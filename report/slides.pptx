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0" d="100"/>
          <a:sy n="160" d="100"/>
        </p:scale>
        <p:origin x="2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2B2B2B"/>
                </a:solidFill>
                <a:latin typeface="Calibri"/>
              </a:defRPr>
            </a:pPr>
            <a:r>
              <a:rPr lang="en-IN" sz="1300" b="0" i="0" u="none" strike="noStrike">
                <a:solidFill>
                  <a:srgbClr val="2B2B2B"/>
                </a:solidFill>
                <a:latin typeface="Calibri"/>
              </a:rPr>
              <a:t>Hit rate at 10 on the validation period (%)</a:t>
            </a:r>
          </a:p>
        </c:rich>
      </c:tx>
      <c:overlay val="0"/>
    </c:title>
    <c:autoTitleDeleted val="0"/>
    <c:plotArea>
      <c:layout/>
      <c:lineChart>
        <c:grouping val="standard"/>
        <c:varyColors val="0"/>
        <c:ser>
          <c:idx val="0"/>
          <c:order val="0"/>
          <c:tx>
            <c:strRef>
              <c:f>Sheet1!$B$1</c:f>
              <c:strCache>
                <c:ptCount val="1"/>
                <c:pt idx="0">
                  <c:v>Final scoring</c:v>
                </c:pt>
              </c:strCache>
            </c:strRef>
          </c:tx>
          <c:spPr>
            <a:ln w="38100" cap="flat">
              <a:solidFill>
                <a:srgbClr val="6D2E46"/>
              </a:solidFill>
              <a:prstDash val="solid"/>
              <a:round/>
            </a:ln>
            <a:effectLst/>
          </c:spPr>
          <c:marker>
            <c:symbol val="circle"/>
            <c:size val="7"/>
            <c:spPr>
              <a:solidFill>
                <a:srgbClr val="6D2E46"/>
              </a:solidFill>
              <a:ln w="9525" cap="flat">
                <a:solidFill>
                  <a:srgbClr val="6D2E46"/>
                </a:solidFill>
                <a:prstDash val="solid"/>
                <a:round/>
              </a:ln>
              <a:effectLst/>
            </c:spPr>
          </c:marker>
          <c:cat>
            <c:strRef>
              <c:f>Sheet1!$A$2:$A$7</c:f>
              <c:strCache>
                <c:ptCount val="6"/>
                <c:pt idx="0">
                  <c:v>10</c:v>
                </c:pt>
                <c:pt idx="1">
                  <c:v>20</c:v>
                </c:pt>
                <c:pt idx="2">
                  <c:v>50</c:v>
                </c:pt>
                <c:pt idx="3">
                  <c:v>100</c:v>
                </c:pt>
                <c:pt idx="4">
                  <c:v>150</c:v>
                </c:pt>
                <c:pt idx="5">
                  <c:v>200</c:v>
                </c:pt>
              </c:strCache>
            </c:strRef>
          </c:cat>
          <c:val>
            <c:numRef>
              <c:f>Sheet1!$B$2:$B$7</c:f>
              <c:numCache>
                <c:formatCode>General</c:formatCode>
                <c:ptCount val="6"/>
                <c:pt idx="0">
                  <c:v>32.1</c:v>
                </c:pt>
                <c:pt idx="1">
                  <c:v>34.700000000000003</c:v>
                </c:pt>
                <c:pt idx="2">
                  <c:v>37.5</c:v>
                </c:pt>
                <c:pt idx="3">
                  <c:v>39</c:v>
                </c:pt>
                <c:pt idx="4">
                  <c:v>37.700000000000003</c:v>
                </c:pt>
                <c:pt idx="5">
                  <c:v>37.700000000000003</c:v>
                </c:pt>
              </c:numCache>
            </c:numRef>
          </c:val>
          <c:smooth val="0"/>
          <c:extLst>
            <c:ext xmlns:c16="http://schemas.microsoft.com/office/drawing/2014/chart" uri="{C3380CC4-5D6E-409C-BE32-E72D297353CC}">
              <c16:uniqueId val="{00000000-3DFD-A14B-BB25-8244F87D5E63}"/>
            </c:ext>
          </c:extLst>
        </c:ser>
        <c:ser>
          <c:idx val="1"/>
          <c:order val="1"/>
          <c:tx>
            <c:strRef>
              <c:f>Sheet1!$C$1</c:f>
              <c:strCache>
                <c:ptCount val="1"/>
                <c:pt idx="0">
                  <c:v>First scoring (cosine)</c:v>
                </c:pt>
              </c:strCache>
            </c:strRef>
          </c:tx>
          <c:spPr>
            <a:ln w="38100" cap="flat">
              <a:solidFill>
                <a:srgbClr val="B0B0B0"/>
              </a:solidFill>
              <a:prstDash val="solid"/>
              <a:round/>
            </a:ln>
            <a:effectLst/>
          </c:spPr>
          <c:marker>
            <c:symbol val="circle"/>
            <c:size val="7"/>
            <c:spPr>
              <a:solidFill>
                <a:srgbClr val="B0B0B0"/>
              </a:solidFill>
              <a:ln w="9525" cap="flat">
                <a:solidFill>
                  <a:srgbClr val="B0B0B0"/>
                </a:solidFill>
                <a:prstDash val="solid"/>
                <a:round/>
              </a:ln>
              <a:effectLst/>
            </c:spPr>
          </c:marker>
          <c:cat>
            <c:strRef>
              <c:f>Sheet1!$A$2:$A$7</c:f>
              <c:strCache>
                <c:ptCount val="6"/>
                <c:pt idx="0">
                  <c:v>10</c:v>
                </c:pt>
                <c:pt idx="1">
                  <c:v>20</c:v>
                </c:pt>
                <c:pt idx="2">
                  <c:v>50</c:v>
                </c:pt>
                <c:pt idx="3">
                  <c:v>100</c:v>
                </c:pt>
                <c:pt idx="4">
                  <c:v>150</c:v>
                </c:pt>
                <c:pt idx="5">
                  <c:v>200</c:v>
                </c:pt>
              </c:strCache>
            </c:strRef>
          </c:cat>
          <c:val>
            <c:numRef>
              <c:f>Sheet1!$C$2:$C$7</c:f>
              <c:numCache>
                <c:formatCode>General</c:formatCode>
                <c:ptCount val="6"/>
                <c:pt idx="0">
                  <c:v>15.3</c:v>
                </c:pt>
                <c:pt idx="1">
                  <c:v>17.8</c:v>
                </c:pt>
                <c:pt idx="2">
                  <c:v>23.3</c:v>
                </c:pt>
                <c:pt idx="3">
                  <c:v>22.7</c:v>
                </c:pt>
                <c:pt idx="4">
                  <c:v>21.8</c:v>
                </c:pt>
                <c:pt idx="5">
                  <c:v>21.2</c:v>
                </c:pt>
              </c:numCache>
            </c:numRef>
          </c:val>
          <c:smooth val="0"/>
          <c:extLst>
            <c:ext xmlns:c16="http://schemas.microsoft.com/office/drawing/2014/chart" uri="{C3380CC4-5D6E-409C-BE32-E72D297353CC}">
              <c16:uniqueId val="{00000001-3DFD-A14B-BB25-8244F87D5E63}"/>
            </c:ext>
          </c:extLst>
        </c:ser>
        <c:ser>
          <c:idx val="2"/>
          <c:order val="2"/>
          <c:tx>
            <c:strRef>
              <c:f>Sheet1!$D$1</c:f>
              <c:strCache>
                <c:ptCount val="1"/>
                <c:pt idx="0">
                  <c:v>Best sellers</c:v>
                </c:pt>
              </c:strCache>
            </c:strRef>
          </c:tx>
          <c:spPr>
            <a:ln w="38100" cap="flat">
              <a:solidFill>
                <a:srgbClr val="D9A441"/>
              </a:solidFill>
              <a:prstDash val="solid"/>
              <a:round/>
            </a:ln>
            <a:effectLst/>
          </c:spPr>
          <c:marker>
            <c:symbol val="circle"/>
            <c:size val="7"/>
            <c:spPr>
              <a:solidFill>
                <a:srgbClr val="D9A441"/>
              </a:solidFill>
              <a:ln w="9525" cap="flat">
                <a:solidFill>
                  <a:srgbClr val="D9A441"/>
                </a:solidFill>
                <a:prstDash val="solid"/>
                <a:round/>
              </a:ln>
              <a:effectLst/>
            </c:spPr>
          </c:marker>
          <c:cat>
            <c:strRef>
              <c:f>Sheet1!$A$2:$A$7</c:f>
              <c:strCache>
                <c:ptCount val="6"/>
                <c:pt idx="0">
                  <c:v>10</c:v>
                </c:pt>
                <c:pt idx="1">
                  <c:v>20</c:v>
                </c:pt>
                <c:pt idx="2">
                  <c:v>50</c:v>
                </c:pt>
                <c:pt idx="3">
                  <c:v>100</c:v>
                </c:pt>
                <c:pt idx="4">
                  <c:v>150</c:v>
                </c:pt>
                <c:pt idx="5">
                  <c:v>200</c:v>
                </c:pt>
              </c:strCache>
            </c:strRef>
          </c:cat>
          <c:val>
            <c:numRef>
              <c:f>Sheet1!$D$2:$D$7</c:f>
              <c:numCache>
                <c:formatCode>General</c:formatCode>
                <c:ptCount val="6"/>
                <c:pt idx="0">
                  <c:v>26.4</c:v>
                </c:pt>
                <c:pt idx="1">
                  <c:v>26.4</c:v>
                </c:pt>
                <c:pt idx="2">
                  <c:v>26.4</c:v>
                </c:pt>
                <c:pt idx="3">
                  <c:v>26.4</c:v>
                </c:pt>
                <c:pt idx="4">
                  <c:v>26.4</c:v>
                </c:pt>
                <c:pt idx="5">
                  <c:v>26.4</c:v>
                </c:pt>
              </c:numCache>
            </c:numRef>
          </c:val>
          <c:smooth val="0"/>
          <c:extLst>
            <c:ext xmlns:c16="http://schemas.microsoft.com/office/drawing/2014/chart" uri="{C3380CC4-5D6E-409C-BE32-E72D297353CC}">
              <c16:uniqueId val="{00000002-3DFD-A14B-BB25-8244F87D5E6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2B2B2B"/>
                    </a:solidFill>
                    <a:latin typeface="Arial"/>
                  </a:defRPr>
                </a:pPr>
                <a:r>
                  <a:rPr lang="en-IN" sz="1200" b="0" i="0" u="none" strike="noStrike">
                    <a:solidFill>
                      <a:srgbClr val="2B2B2B"/>
                    </a:solidFill>
                    <a:latin typeface="Arial"/>
                  </a:rPr>
                  <a:t>k (number of dimensions)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2B2B"/>
                </a:solidFill>
                <a:latin typeface="Arial"/>
              </a:defRPr>
            </a:pPr>
            <a:endParaRPr lang="en-US"/>
          </a:p>
        </c:txPr>
        <c:crossAx val="2094734552"/>
        <c:crosses val="autoZero"/>
        <c:auto val="1"/>
        <c:lblAlgn val="ctr"/>
        <c:lblOffset val="100"/>
        <c:noMultiLvlLbl val="1"/>
      </c:catAx>
      <c:valAx>
        <c:axId val="2094734552"/>
        <c:scaling>
          <c:orientation val="minMax"/>
          <c:max val="45"/>
          <c:min val="0"/>
        </c:scaling>
        <c:delete val="0"/>
        <c:axPos val="l"/>
        <c:majorGridlines>
          <c:spPr>
            <a:ln w="6350"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B2B2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B2B2B"/>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2B2B2B"/>
                </a:solidFill>
                <a:latin typeface="Calibri"/>
              </a:defRPr>
            </a:pPr>
            <a:r>
              <a:rPr sz="1300" b="0" i="0" u="none" strike="noStrike">
                <a:solidFill>
                  <a:srgbClr val="2B2B2B"/>
                </a:solidFill>
                <a:latin typeface="Calibri"/>
              </a:rPr>
              <a:t>Hit rate at 10 on the test period (%)</a:t>
            </a:r>
          </a:p>
        </c:rich>
      </c:tx>
      <c:overlay val="0"/>
    </c:title>
    <c:autoTitleDeleted val="0"/>
    <c:plotArea>
      <c:layout/>
      <c:barChart>
        <c:barDir val="col"/>
        <c:grouping val="clustered"/>
        <c:varyColors val="0"/>
        <c:ser>
          <c:idx val="0"/>
          <c:order val="0"/>
          <c:tx>
            <c:strRef>
              <c:f>Sheet1!$B$1</c:f>
              <c:strCache>
                <c:ptCount val="1"/>
                <c:pt idx="0">
                  <c:v>Hit rate at 10 (%)</c:v>
                </c:pt>
              </c:strCache>
            </c:strRef>
          </c:tx>
          <c:spPr>
            <a:solidFill>
              <a:srgbClr val="A26769"/>
            </a:solidFill>
            <a:effectLst/>
          </c:spPr>
          <c:invertIfNegative val="0"/>
          <c:dPt>
            <c:idx val="0"/>
            <c:invertIfNegative val="0"/>
            <c:bubble3D val="0"/>
            <c:extLst>
              <c:ext xmlns:c16="http://schemas.microsoft.com/office/drawing/2014/chart" uri="{C3380CC4-5D6E-409C-BE32-E72D297353CC}">
                <c16:uniqueId val="{00000001-0DC9-9E42-93EB-31B36CC8278D}"/>
              </c:ext>
            </c:extLst>
          </c:dPt>
          <c:dPt>
            <c:idx val="1"/>
            <c:invertIfNegative val="0"/>
            <c:bubble3D val="0"/>
            <c:spPr>
              <a:solidFill>
                <a:srgbClr val="B9B9B9"/>
              </a:solidFill>
              <a:effectLst/>
            </c:spPr>
            <c:extLst>
              <c:ext xmlns:c16="http://schemas.microsoft.com/office/drawing/2014/chart" uri="{C3380CC4-5D6E-409C-BE32-E72D297353CC}">
                <c16:uniqueId val="{00000003-0DC9-9E42-93EB-31B36CC8278D}"/>
              </c:ext>
            </c:extLst>
          </c:dPt>
          <c:dPt>
            <c:idx val="2"/>
            <c:invertIfNegative val="0"/>
            <c:bubble3D val="0"/>
            <c:spPr>
              <a:solidFill>
                <a:srgbClr val="6D2E46"/>
              </a:solidFill>
              <a:effectLst/>
            </c:spPr>
            <c:extLst>
              <c:ext xmlns:c16="http://schemas.microsoft.com/office/drawing/2014/chart" uri="{C3380CC4-5D6E-409C-BE32-E72D297353CC}">
                <c16:uniqueId val="{00000005-0DC9-9E42-93EB-31B36CC8278D}"/>
              </c:ext>
            </c:extLst>
          </c:dPt>
          <c:dLbls>
            <c:numFmt formatCode="0.0" sourceLinked="0"/>
            <c:spPr>
              <a:noFill/>
              <a:ln>
                <a:noFill/>
              </a:ln>
              <a:effectLst/>
            </c:spPr>
            <c:txPr>
              <a:bodyPr/>
              <a:lstStyle/>
              <a:p>
                <a:pPr>
                  <a:defRPr sz="1500" b="0" i="0" u="none" strike="noStrike">
                    <a:solidFill>
                      <a:srgbClr val="2B2B2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Best sellers</c:v>
                </c:pt>
                <c:pt idx="1">
                  <c:v>First scoring</c:v>
                </c:pt>
                <c:pt idx="2">
                  <c:v>Final scoring</c:v>
                </c:pt>
              </c:strCache>
            </c:strRef>
          </c:cat>
          <c:val>
            <c:numRef>
              <c:f>Sheet1!$B$2:$B$4</c:f>
              <c:numCache>
                <c:formatCode>General</c:formatCode>
                <c:ptCount val="3"/>
                <c:pt idx="0">
                  <c:v>27</c:v>
                </c:pt>
                <c:pt idx="1">
                  <c:v>22.5</c:v>
                </c:pt>
                <c:pt idx="2">
                  <c:v>38.299999999999997</c:v>
                </c:pt>
              </c:numCache>
            </c:numRef>
          </c:val>
          <c:extLst>
            <c:ext xmlns:c16="http://schemas.microsoft.com/office/drawing/2014/chart" uri="{C3380CC4-5D6E-409C-BE32-E72D297353CC}">
              <c16:uniqueId val="{00000006-0DC9-9E42-93EB-31B36CC8278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B2B2B"/>
                </a:solidFill>
                <a:latin typeface="Arial"/>
              </a:defRPr>
            </a:pPr>
            <a:endParaRPr lang="en-US"/>
          </a:p>
        </c:txPr>
        <c:crossAx val="2094734552"/>
        <c:crosses val="autoZero"/>
        <c:auto val="1"/>
        <c:lblAlgn val="ctr"/>
        <c:lblOffset val="100"/>
        <c:noMultiLvlLbl val="1"/>
      </c:catAx>
      <c:valAx>
        <c:axId val="2094734552"/>
        <c:scaling>
          <c:orientation val="minMax"/>
          <c:max val="45"/>
          <c:min val="0"/>
        </c:scaling>
        <c:delete val="0"/>
        <c:axPos val="l"/>
        <c:majorGridlines>
          <c:spPr>
            <a:ln w="6350"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B2B2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755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Jeevan and Manavkrishna. Manavkrishna built the data side and Jeevan did the model. We got an email from Sarah, the head of e-commerce, with two requests, and we'll show what we did about them in about five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Sarah wanted two things. First, a box on every product page saying customers who bought this also bought, which has to run overnight, be small enough to keep, and beat simply showing the best sellers. Second, one picture of our customer groups for marketing. On the right is how it turned out: the compressed table is 22 times smaller, the nightly job takes under a second, our suggestions reach 38% of customers against 27% for best sellers, and we found three groups. We'll go through how we got there.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data side. It's a real UK gift-ware retailer, just over a million invoice lines. We threw out cancelled invoices, zero or negative quantities and prices, service lines like postage, fees and vouchers, lines with no customer ID, and exact duplicates. The big one is missing customer IDs, nearly a quarter of the raw lines, which leaves 776,577 lines. We split by time. The model sees everything before 9 October 2011 and the last two months are the test. The matrix has 5,471 customers and 3,686 products and it's 98% empty, and it's built from training rows only.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SVD and PCA are close relatives. PCA first subtracts the average customer, SVD doesn't. We chose SVD before fitting anything, because our table is mostly zeros and SVD doesn't need that centring. Then we ran PCA with the same number of dimensions to see if it mattered. It didn't. The hit rates are 38.5% for PCA and 38.3% for SVD, which is a tie, and the size and speed are about the same too. In both, the first dimension is basically how much and how widely a customer buys. So SVD stays: same quality, simpler.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many dimensions? The reconstruction error doesn't show a clear elbow. It just keeps falling slowly, so we couldn't pick from that. So we cut a validation period from the end of the training data and measured the hit rate there. With our final scoring it climbs up to k = 100 and then stops improving. Our rule was to take the smallest k within one point of the best, which gives 100. That makes the factors 7 MB, 22 times smaller than the full table but a bit bigger than the sparse table at 4.8 MB, and we say that honestly in the memo. The test set wasn't touched for this.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result. We hid the last two months of orders, the pre-Christmas period, and asked whether a product a customer bought for the first time was in our top 10 for them. Best sellers get 27%. Our first version, the cosine scoring the brief describes, got 22.5% and lost. The reason is that it scales every product to the same length, so it throws away how popular a product is. The final scoring rebuilds each customer's row from the compressed table, which keeps popularity and their own history, and it gets 38.3%. That's 11 points better, and the range of 8.6 to 14 doesn't include zero. We tuned all of this on the validation period and used the test period once.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product page box would show. Here are three of our best sellers and their closest neighbours from the model. The Regency cakestand sits next to the Regency teacups, teapot and cake tins. The hanging heart holder sits next to other hanging heart and star holders. The retro spot cake cases sit next to other cake cases and doilies. These make sense without us telling the model anything about the products. It only saw who bought what. It's not perfect, and a wall cabinet shows up further down one list, so we'd want a live test.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marketing we put each customer on the first two dimensions of the model and grouped them with k-means. The first dimension is basically how much a customer buys, so the picture mostly separates small from big buyers. We got three groups. Everyday small shops are 83% of customers. There are two big buyer groups, together about 17% of customers, who buy four to five times as many different products. One leans towards home decor and gifts, the other towards party, baking and kids' items, and that one has the most customers outside the UK. The edges are soft, and the small shops group is big enough that we'd split it by theme next.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finish. Manavkrishna on what could go wrong: we tested one period and it was the run up to Christmas, nearly a quarter of the raw order lines have no customer ID so guest buyers are invisible, new customers and rare products can't get suggestions, and we measured personal top-10 lists rather than the product page box itself. Jeevan on next steps: run an A/B test of the box against best sellers, try a simple bought or not bought input, which scored about three points better on validation, refresh nightly and check monthly, and split the small shops group by theme. Thanks, we're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6D2E46"/>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80160"/>
            <a:ext cx="5669280" cy="1097280"/>
          </a:xfrm>
          <a:prstGeom prst="rect">
            <a:avLst/>
          </a:prstGeom>
          <a:noFill/>
          <a:ln/>
        </p:spPr>
        <p:txBody>
          <a:bodyPr wrap="square" rtlCol="0"/>
          <a:lstStyle>
            <a:lvl1pPr marL="0" indent="0" algn="l">
              <a:buNone/>
              <a:defRPr lang="en-US" sz="4200" b="1" dirty="0">
                <a:solidFill>
                  <a:srgbClr val="FFFFFF"/>
                </a:solidFill>
                <a:latin typeface="Cambria" pitchFamily="34" charset="0"/>
                <a:ea typeface="Cambria" pitchFamily="34" charset="-122"/>
                <a:cs typeface="Cambria" pitchFamily="34" charset="-120"/>
              </a:defRPr>
            </a:lvl1pPr>
          </a:lstStyle>
          <a:p>
            <a:pPr marL="0" indent="0" algn="l">
              <a:buNone/>
            </a:pPr>
            <a:endParaRPr lang="en-US" sz="4200" dirty="0"/>
          </a:p>
        </p:txBody>
      </p:sp>
      <p:sp>
        <p:nvSpPr>
          <p:cNvPr id="3" name="Text 0"/>
          <p:cNvSpPr>
            <a:spLocks noGrp="1"/>
          </p:cNvSpPr>
          <p:nvPr>
            <p:ph type="body" idx="101" hasCustomPrompt="1"/>
          </p:nvPr>
        </p:nvSpPr>
        <p:spPr>
          <a:xfrm>
            <a:off x="548640" y="2514600"/>
            <a:ext cx="5303520" cy="1005840"/>
          </a:xfrm>
          <a:prstGeom prst="rect">
            <a:avLst/>
          </a:prstGeom>
          <a:noFill/>
          <a:ln/>
        </p:spPr>
        <p:txBody>
          <a:bodyPr wrap="square" rtlCol="0"/>
          <a:lstStyle>
            <a:lvl1pPr marL="0" indent="0" algn="l">
              <a:buNone/>
              <a:defRPr lang="en-US" sz="2200" dirty="0">
                <a:solidFill>
                  <a:srgbClr val="F3DDE5"/>
                </a:solidFill>
                <a:latin typeface="Calibri" pitchFamily="34" charset="0"/>
                <a:ea typeface="Calibri" pitchFamily="34" charset="-122"/>
                <a:cs typeface="Calibri" pitchFamily="34" charset="-120"/>
              </a:defRPr>
            </a:lvl1pPr>
          </a:lstStyle>
          <a:p>
            <a:pPr marL="0" indent="0" algn="l">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31520"/>
          </a:xfrm>
          <a:prstGeom prst="rect">
            <a:avLst/>
          </a:prstGeom>
          <a:noFill/>
          <a:ln/>
        </p:spPr>
        <p:txBody>
          <a:bodyPr wrap="square" rtlCol="0"/>
          <a:lstStyle>
            <a:lvl1pPr marL="0" indent="0" algn="l">
              <a:buNone/>
              <a:defRPr lang="en-US" sz="3400" b="1" dirty="0">
                <a:solidFill>
                  <a:srgbClr val="6D2E46"/>
                </a:solidFill>
                <a:latin typeface="Cambria" pitchFamily="34" charset="0"/>
                <a:ea typeface="Cambria" pitchFamily="34" charset="-122"/>
                <a:cs typeface="Cambria" pitchFamily="34" charset="-120"/>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B6B"/>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B6B"/>
                </a:solidFill>
                <a:latin typeface="Calibri"/>
                <a:ea typeface="Calibri"/>
                <a:cs typeface="Calibri"/>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80160"/>
            <a:ext cx="5669280" cy="1097280"/>
          </a:xfrm>
          <a:prstGeom prst="rect">
            <a:avLst/>
          </a:prstGeom>
          <a:noFill/>
          <a:ln/>
        </p:spPr>
        <p:txBody>
          <a:bodyPr wrap="square" rtlCol="0" anchor="ctr"/>
          <a:lstStyle/>
          <a:p>
            <a:pPr marL="0" indent="0" algn="l">
              <a:buNone/>
            </a:pPr>
            <a:r>
              <a:rPr lang="en-US" sz="4200" b="1" dirty="0">
                <a:solidFill>
                  <a:srgbClr val="FFFFFF"/>
                </a:solidFill>
                <a:latin typeface="Cambria" pitchFamily="34" charset="0"/>
                <a:ea typeface="Cambria" pitchFamily="34" charset="-122"/>
                <a:cs typeface="Cambria" pitchFamily="34" charset="-120"/>
              </a:rPr>
              <a:t>Customers like you</a:t>
            </a:r>
            <a:endParaRPr lang="en-US" sz="4200" dirty="0"/>
          </a:p>
        </p:txBody>
      </p:sp>
      <p:sp>
        <p:nvSpPr>
          <p:cNvPr id="3" name="Text 0"/>
          <p:cNvSpPr>
            <a:spLocks noGrp="1"/>
          </p:cNvSpPr>
          <p:nvPr>
            <p:ph type="body" idx="101" hasCustomPrompt="1"/>
          </p:nvPr>
        </p:nvSpPr>
        <p:spPr>
          <a:xfrm>
            <a:off x="548640" y="2514600"/>
            <a:ext cx="5303520" cy="1005840"/>
          </a:xfrm>
          <a:prstGeom prst="rect">
            <a:avLst/>
          </a:prstGeom>
          <a:noFill/>
          <a:ln/>
        </p:spPr>
        <p:txBody>
          <a:bodyPr wrap="square" rtlCol="0" anchor="t"/>
          <a:lstStyle/>
          <a:p>
            <a:pPr marL="0" indent="0" algn="l">
              <a:buNone/>
            </a:pPr>
            <a:r>
              <a:rPr lang="en-US" sz="2200" dirty="0">
                <a:solidFill>
                  <a:srgbClr val="F3DDE5"/>
                </a:solidFill>
                <a:latin typeface="Calibri" pitchFamily="34" charset="0"/>
                <a:ea typeface="Calibri" pitchFamily="34" charset="-122"/>
                <a:cs typeface="Calibri" pitchFamily="34" charset="-120"/>
              </a:rPr>
              <a:t>Better product suggestions and customer groups for GiftLane</a:t>
            </a:r>
            <a:endParaRPr lang="en-US" sz="2200" dirty="0"/>
          </a:p>
        </p:txBody>
      </p:sp>
      <p:sp>
        <p:nvSpPr>
          <p:cNvPr id="4" name="Names"/>
          <p:cNvSpPr txBox="1"/>
          <p:nvPr/>
        </p:nvSpPr>
        <p:spPr>
          <a:xfrm>
            <a:off x="548640" y="3977640"/>
            <a:ext cx="5486400" cy="320040"/>
          </a:xfrm>
          <a:prstGeom prst="rect">
            <a:avLst/>
          </a:prstGeom>
          <a:noFill/>
          <a:ln/>
        </p:spPr>
        <p:txBody>
          <a:bodyPr wrap="square" lIns="0" tIns="0" rIns="0" bIns="0" rtlCol="0" anchor="t"/>
          <a:lstStyle/>
          <a:p>
            <a:pPr marL="0" indent="0">
              <a:buNone/>
            </a:pPr>
            <a:r>
              <a:rPr lang="en-US" sz="1800" dirty="0">
                <a:solidFill>
                  <a:srgbClr val="FFFFFF"/>
                </a:solidFill>
                <a:latin typeface="Calibri" pitchFamily="34" charset="0"/>
                <a:ea typeface="Calibri" pitchFamily="34" charset="-122"/>
                <a:cs typeface="Calibri" pitchFamily="34" charset="-120"/>
              </a:rPr>
              <a:t>Jeevan Mandala and Manavkrishna Manoj</a:t>
            </a:r>
            <a:endParaRPr lang="en-US" sz="1800" dirty="0"/>
          </a:p>
        </p:txBody>
      </p:sp>
      <p:sp>
        <p:nvSpPr>
          <p:cNvPr id="5" name="Date line"/>
          <p:cNvSpPr txBox="1"/>
          <p:nvPr/>
        </p:nvSpPr>
        <p:spPr>
          <a:xfrm>
            <a:off x="548640" y="4343400"/>
            <a:ext cx="5486400" cy="274320"/>
          </a:xfrm>
          <a:prstGeom prst="rect">
            <a:avLst/>
          </a:prstGeom>
          <a:noFill/>
          <a:ln/>
        </p:spPr>
        <p:txBody>
          <a:bodyPr wrap="square" lIns="0" tIns="0" rIns="0" bIns="0" rtlCol="0" anchor="t"/>
          <a:lstStyle/>
          <a:p>
            <a:pPr marL="0" indent="0">
              <a:buNone/>
            </a:pPr>
            <a:r>
              <a:rPr lang="en-US" sz="1400" dirty="0">
                <a:solidFill>
                  <a:srgbClr val="F3DDE5"/>
                </a:solidFill>
                <a:latin typeface="Calibri" pitchFamily="34" charset="0"/>
                <a:ea typeface="Calibri" pitchFamily="34" charset="-122"/>
                <a:cs typeface="Calibri" pitchFamily="34" charset="-120"/>
              </a:rPr>
              <a:t>Mini-project 1 | October 2026</a:t>
            </a:r>
            <a:endParaRPr lang="en-US" sz="1400" dirty="0"/>
          </a:p>
        </p:txBody>
      </p:sp>
      <p:sp>
        <p:nvSpPr>
          <p:cNvPr id="6" name="Circle 1"/>
          <p:cNvSpPr/>
          <p:nvPr/>
        </p:nvSpPr>
        <p:spPr>
          <a:xfrm>
            <a:off x="6583680" y="822960"/>
            <a:ext cx="2103120" cy="2103120"/>
          </a:xfrm>
          <a:prstGeom prst="ellipse">
            <a:avLst/>
          </a:prstGeom>
          <a:solidFill>
            <a:srgbClr val="C98BA3">
              <a:alpha val="75000"/>
            </a:srgbClr>
          </a:solidFill>
          <a:ln w="12700">
            <a:solidFill>
              <a:srgbClr val="C98BA3">
                <a:alpha val="75000"/>
              </a:srgbClr>
            </a:solidFill>
            <a:prstDash val="solid"/>
          </a:ln>
        </p:spPr>
        <p:txBody>
          <a:bodyPr/>
          <a:lstStyle/>
          <a:p>
            <a:endParaRPr lang="en-US"/>
          </a:p>
        </p:txBody>
      </p:sp>
      <p:sp>
        <p:nvSpPr>
          <p:cNvPr id="7" name="Circle 2"/>
          <p:cNvSpPr/>
          <p:nvPr/>
        </p:nvSpPr>
        <p:spPr>
          <a:xfrm>
            <a:off x="7406640" y="1828800"/>
            <a:ext cx="1645920" cy="1645920"/>
          </a:xfrm>
          <a:prstGeom prst="ellipse">
            <a:avLst/>
          </a:prstGeom>
          <a:solidFill>
            <a:srgbClr val="A26769">
              <a:alpha val="75000"/>
            </a:srgbClr>
          </a:solidFill>
          <a:ln w="12700">
            <a:solidFill>
              <a:srgbClr val="A26769">
                <a:alpha val="75000"/>
              </a:srgbClr>
            </a:solidFill>
            <a:prstDash val="solid"/>
          </a:ln>
        </p:spPr>
        <p:txBody>
          <a:bodyPr/>
          <a:lstStyle/>
          <a:p>
            <a:endParaRPr lang="en-US"/>
          </a:p>
        </p:txBody>
      </p:sp>
      <p:sp>
        <p:nvSpPr>
          <p:cNvPr id="8" name="Circle 3"/>
          <p:cNvSpPr/>
          <p:nvPr/>
        </p:nvSpPr>
        <p:spPr>
          <a:xfrm>
            <a:off x="6400800" y="2560320"/>
            <a:ext cx="1371600" cy="1371600"/>
          </a:xfrm>
          <a:prstGeom prst="ellipse">
            <a:avLst/>
          </a:prstGeom>
          <a:solidFill>
            <a:srgbClr val="D9A441">
              <a:alpha val="75000"/>
            </a:srgbClr>
          </a:solidFill>
          <a:ln w="12700">
            <a:solidFill>
              <a:srgbClr val="D9A441">
                <a:alpha val="75000"/>
              </a:srgbClr>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31520"/>
          </a:xfrm>
          <a:prstGeom prst="rect">
            <a:avLst/>
          </a:prstGeom>
          <a:noFill/>
          <a:ln/>
        </p:spPr>
        <p:txBody>
          <a:bodyPr wrap="square" rtlCol="0" anchor="ctr"/>
          <a:lstStyle/>
          <a:p>
            <a:pPr marL="0" indent="0" algn="l">
              <a:buNone/>
            </a:pPr>
            <a:r>
              <a:rPr lang="en-US" sz="3400" b="1" dirty="0">
                <a:solidFill>
                  <a:srgbClr val="6D2E46"/>
                </a:solidFill>
                <a:latin typeface="Cambria" pitchFamily="34" charset="0"/>
                <a:ea typeface="Cambria" pitchFamily="34" charset="-122"/>
                <a:cs typeface="Cambria" pitchFamily="34" charset="-120"/>
              </a:rPr>
              <a:t>What Sarah asked for</a:t>
            </a:r>
            <a:endParaRPr lang="en-US" sz="3400" dirty="0"/>
          </a:p>
        </p:txBody>
      </p:sp>
      <p:sp>
        <p:nvSpPr>
          <p:cNvPr id="3" name="The two requests"/>
          <p:cNvSpPr txBox="1"/>
          <p:nvPr/>
        </p:nvSpPr>
        <p:spPr>
          <a:xfrm>
            <a:off x="457200" y="1188720"/>
            <a:ext cx="3931920" cy="3383280"/>
          </a:xfrm>
          <a:prstGeom prst="rect">
            <a:avLst/>
          </a:prstGeom>
          <a:noFill/>
          <a:ln/>
        </p:spPr>
        <p:txBody>
          <a:bodyPr wrap="square" lIns="0" tIns="0" rIns="0" bIns="0" rtlCol="0" anchor="t"/>
          <a:lstStyle/>
          <a:p>
            <a:pPr marL="0" indent="0">
              <a:buNone/>
            </a:pPr>
            <a:r>
              <a:rPr lang="en-US" sz="1900" dirty="0">
                <a:solidFill>
                  <a:srgbClr val="2B2B2B"/>
                </a:solidFill>
                <a:latin typeface="Calibri" pitchFamily="34" charset="0"/>
                <a:ea typeface="Calibri" pitchFamily="34" charset="-122"/>
                <a:cs typeface="Calibri" pitchFamily="34" charset="-120"/>
              </a:rPr>
              <a:t>A "customers who bought this also bought" box on every product page. It has to run overnight, be small enough to keep, and do better than just showing the best sellers.</a:t>
            </a:r>
            <a:endParaRPr lang="en-US" sz="1900" dirty="0"/>
          </a:p>
          <a:p>
            <a:pPr marL="0" indent="0">
              <a:buNone/>
            </a:pPr>
            <a:r>
              <a:rPr lang="en-US" sz="800" dirty="0">
                <a:solidFill>
                  <a:srgbClr val="2B2B2B"/>
                </a:solidFill>
                <a:latin typeface="Calibri" pitchFamily="34" charset="0"/>
                <a:ea typeface="Calibri" pitchFamily="34" charset="-122"/>
                <a:cs typeface="Calibri" pitchFamily="34" charset="-120"/>
              </a:rPr>
              <a:t> </a:t>
            </a:r>
            <a:endParaRPr lang="en-US" sz="1900" dirty="0"/>
          </a:p>
          <a:p>
            <a:pPr marL="0" indent="0">
              <a:buNone/>
            </a:pPr>
            <a:r>
              <a:rPr lang="en-US" sz="1900" dirty="0">
                <a:solidFill>
                  <a:srgbClr val="2B2B2B"/>
                </a:solidFill>
                <a:latin typeface="Calibri" pitchFamily="34" charset="0"/>
                <a:ea typeface="Calibri" pitchFamily="34" charset="-122"/>
                <a:cs typeface="Calibri" pitchFamily="34" charset="-120"/>
              </a:rPr>
              <a:t>One simple picture of our main customer groups, so marketing can plan a different campaign for each.</a:t>
            </a:r>
            <a:endParaRPr lang="en-US" sz="1900" dirty="0"/>
          </a:p>
        </p:txBody>
      </p:sp>
      <p:sp>
        <p:nvSpPr>
          <p:cNvPr id="4" name="Result card 1"/>
          <p:cNvSpPr/>
          <p:nvPr/>
        </p:nvSpPr>
        <p:spPr>
          <a:xfrm>
            <a:off x="4617720" y="1188720"/>
            <a:ext cx="1965960" cy="1600200"/>
          </a:xfrm>
          <a:prstGeom prst="roundRect">
            <a:avLst>
              <a:gd name="adj" fmla="val 4571"/>
            </a:avLst>
          </a:prstGeom>
          <a:solidFill>
            <a:srgbClr val="F6EDF0"/>
          </a:solidFill>
          <a:ln w="12700">
            <a:solidFill>
              <a:srgbClr val="F6EDF0"/>
            </a:solidFill>
            <a:prstDash val="solid"/>
          </a:ln>
        </p:spPr>
        <p:txBody>
          <a:bodyPr/>
          <a:lstStyle/>
          <a:p>
            <a:endParaRPr lang="en-US"/>
          </a:p>
        </p:txBody>
      </p:sp>
      <p:sp>
        <p:nvSpPr>
          <p:cNvPr id="5" name="Result 1"/>
          <p:cNvSpPr txBox="1"/>
          <p:nvPr/>
        </p:nvSpPr>
        <p:spPr>
          <a:xfrm>
            <a:off x="4754880" y="1298448"/>
            <a:ext cx="1737360" cy="548640"/>
          </a:xfrm>
          <a:prstGeom prst="rect">
            <a:avLst/>
          </a:prstGeom>
          <a:noFill/>
          <a:ln/>
        </p:spPr>
        <p:txBody>
          <a:bodyPr wrap="square" lIns="0" tIns="0" rIns="0" bIns="0" rtlCol="0" anchor="t"/>
          <a:lstStyle/>
          <a:p>
            <a:pPr marL="0" indent="0">
              <a:buNone/>
            </a:pPr>
            <a:r>
              <a:rPr lang="en-US" sz="2800" b="1" dirty="0">
                <a:solidFill>
                  <a:srgbClr val="6D2E46"/>
                </a:solidFill>
                <a:latin typeface="Cambria" pitchFamily="34" charset="0"/>
                <a:ea typeface="Cambria" pitchFamily="34" charset="-122"/>
                <a:cs typeface="Cambria" pitchFamily="34" charset="-120"/>
              </a:rPr>
              <a:t>22×</a:t>
            </a:r>
            <a:endParaRPr lang="en-US" sz="2800" dirty="0"/>
          </a:p>
        </p:txBody>
      </p:sp>
      <p:sp>
        <p:nvSpPr>
          <p:cNvPr id="6" name="Result label 1"/>
          <p:cNvSpPr txBox="1"/>
          <p:nvPr/>
        </p:nvSpPr>
        <p:spPr>
          <a:xfrm>
            <a:off x="4754880" y="1874520"/>
            <a:ext cx="1737360" cy="914400"/>
          </a:xfrm>
          <a:prstGeom prst="rect">
            <a:avLst/>
          </a:prstGeom>
          <a:noFill/>
          <a:ln/>
        </p:spPr>
        <p:txBody>
          <a:bodyPr wrap="square" lIns="0" tIns="0" rIns="0" bIns="0" rtlCol="0" anchor="t"/>
          <a:lstStyle/>
          <a:p>
            <a:pPr marL="0" indent="0">
              <a:buNone/>
            </a:pPr>
            <a:r>
              <a:rPr lang="en-US" sz="1400" dirty="0">
                <a:solidFill>
                  <a:srgbClr val="2B2B2B"/>
                </a:solidFill>
                <a:latin typeface="Calibri" pitchFamily="34" charset="0"/>
                <a:ea typeface="Calibri" pitchFamily="34" charset="-122"/>
                <a:cs typeface="Calibri" pitchFamily="34" charset="-120"/>
              </a:rPr>
              <a:t>smaller than the full table, 154 MB down to 7 MB</a:t>
            </a:r>
            <a:endParaRPr lang="en-US" sz="1400" dirty="0"/>
          </a:p>
        </p:txBody>
      </p:sp>
      <p:sp>
        <p:nvSpPr>
          <p:cNvPr id="7" name="Result card 2"/>
          <p:cNvSpPr/>
          <p:nvPr/>
        </p:nvSpPr>
        <p:spPr>
          <a:xfrm>
            <a:off x="6720840" y="1188720"/>
            <a:ext cx="1965960" cy="1600200"/>
          </a:xfrm>
          <a:prstGeom prst="roundRect">
            <a:avLst>
              <a:gd name="adj" fmla="val 4571"/>
            </a:avLst>
          </a:prstGeom>
          <a:solidFill>
            <a:srgbClr val="F6EDF0"/>
          </a:solidFill>
          <a:ln w="12700">
            <a:solidFill>
              <a:srgbClr val="F6EDF0"/>
            </a:solidFill>
            <a:prstDash val="solid"/>
          </a:ln>
        </p:spPr>
        <p:txBody>
          <a:bodyPr/>
          <a:lstStyle/>
          <a:p>
            <a:endParaRPr lang="en-US"/>
          </a:p>
        </p:txBody>
      </p:sp>
      <p:sp>
        <p:nvSpPr>
          <p:cNvPr id="8" name="Result 2"/>
          <p:cNvSpPr txBox="1"/>
          <p:nvPr/>
        </p:nvSpPr>
        <p:spPr>
          <a:xfrm>
            <a:off x="6858000" y="1298448"/>
            <a:ext cx="1737360" cy="548640"/>
          </a:xfrm>
          <a:prstGeom prst="rect">
            <a:avLst/>
          </a:prstGeom>
          <a:noFill/>
          <a:ln/>
        </p:spPr>
        <p:txBody>
          <a:bodyPr wrap="square" lIns="0" tIns="0" rIns="0" bIns="0" rtlCol="0" anchor="t"/>
          <a:lstStyle/>
          <a:p>
            <a:pPr marL="0" indent="0">
              <a:buNone/>
            </a:pPr>
            <a:r>
              <a:rPr lang="en-US" sz="2800" b="1" dirty="0">
                <a:solidFill>
                  <a:srgbClr val="6D2E46"/>
                </a:solidFill>
                <a:latin typeface="Cambria" pitchFamily="34" charset="0"/>
                <a:ea typeface="Cambria" pitchFamily="34" charset="-122"/>
                <a:cs typeface="Cambria" pitchFamily="34" charset="-120"/>
              </a:rPr>
              <a:t>0.88 s</a:t>
            </a:r>
            <a:endParaRPr lang="en-US" sz="2800" dirty="0"/>
          </a:p>
        </p:txBody>
      </p:sp>
      <p:sp>
        <p:nvSpPr>
          <p:cNvPr id="9" name="Result label 2"/>
          <p:cNvSpPr txBox="1"/>
          <p:nvPr/>
        </p:nvSpPr>
        <p:spPr>
          <a:xfrm>
            <a:off x="6858000" y="1874520"/>
            <a:ext cx="1737360" cy="914400"/>
          </a:xfrm>
          <a:prstGeom prst="rect">
            <a:avLst/>
          </a:prstGeom>
          <a:noFill/>
          <a:ln/>
        </p:spPr>
        <p:txBody>
          <a:bodyPr wrap="square" lIns="0" tIns="0" rIns="0" bIns="0" rtlCol="0" anchor="t"/>
          <a:lstStyle/>
          <a:p>
            <a:pPr marL="0" indent="0">
              <a:buNone/>
            </a:pPr>
            <a:r>
              <a:rPr lang="en-US" sz="1400" dirty="0">
                <a:solidFill>
                  <a:srgbClr val="2B2B2B"/>
                </a:solidFill>
                <a:latin typeface="Calibri" pitchFamily="34" charset="0"/>
                <a:ea typeface="Calibri" pitchFamily="34" charset="-122"/>
                <a:cs typeface="Calibri" pitchFamily="34" charset="-120"/>
              </a:rPr>
              <a:t>for the whole nightly job on a laptop</a:t>
            </a:r>
            <a:endParaRPr lang="en-US" sz="1400" dirty="0"/>
          </a:p>
        </p:txBody>
      </p:sp>
      <p:sp>
        <p:nvSpPr>
          <p:cNvPr id="10" name="Result card 3"/>
          <p:cNvSpPr/>
          <p:nvPr/>
        </p:nvSpPr>
        <p:spPr>
          <a:xfrm>
            <a:off x="4617720" y="2926080"/>
            <a:ext cx="1965960" cy="1600200"/>
          </a:xfrm>
          <a:prstGeom prst="roundRect">
            <a:avLst>
              <a:gd name="adj" fmla="val 4571"/>
            </a:avLst>
          </a:prstGeom>
          <a:solidFill>
            <a:srgbClr val="F6EDF0"/>
          </a:solidFill>
          <a:ln w="12700">
            <a:solidFill>
              <a:srgbClr val="F6EDF0"/>
            </a:solidFill>
            <a:prstDash val="solid"/>
          </a:ln>
        </p:spPr>
        <p:txBody>
          <a:bodyPr/>
          <a:lstStyle/>
          <a:p>
            <a:endParaRPr lang="en-US"/>
          </a:p>
        </p:txBody>
      </p:sp>
      <p:sp>
        <p:nvSpPr>
          <p:cNvPr id="11" name="Result 3"/>
          <p:cNvSpPr txBox="1"/>
          <p:nvPr/>
        </p:nvSpPr>
        <p:spPr>
          <a:xfrm>
            <a:off x="4754880" y="3035808"/>
            <a:ext cx="1737360" cy="548640"/>
          </a:xfrm>
          <a:prstGeom prst="rect">
            <a:avLst/>
          </a:prstGeom>
          <a:noFill/>
          <a:ln/>
        </p:spPr>
        <p:txBody>
          <a:bodyPr wrap="square" lIns="0" tIns="0" rIns="0" bIns="0" rtlCol="0" anchor="t"/>
          <a:lstStyle/>
          <a:p>
            <a:pPr marL="0" indent="0">
              <a:buNone/>
            </a:pPr>
            <a:r>
              <a:rPr lang="en-US" sz="2200" b="1" dirty="0">
                <a:solidFill>
                  <a:srgbClr val="6D2E46"/>
                </a:solidFill>
                <a:latin typeface="Cambria" pitchFamily="34" charset="0"/>
                <a:ea typeface="Cambria" pitchFamily="34" charset="-122"/>
                <a:cs typeface="Cambria" pitchFamily="34" charset="-120"/>
              </a:rPr>
              <a:t>38% vs 27%</a:t>
            </a:r>
            <a:endParaRPr lang="en-US" sz="2200" dirty="0"/>
          </a:p>
        </p:txBody>
      </p:sp>
      <p:sp>
        <p:nvSpPr>
          <p:cNvPr id="12" name="Result label 3"/>
          <p:cNvSpPr txBox="1"/>
          <p:nvPr/>
        </p:nvSpPr>
        <p:spPr>
          <a:xfrm>
            <a:off x="4754880" y="3611880"/>
            <a:ext cx="1737360" cy="914400"/>
          </a:xfrm>
          <a:prstGeom prst="rect">
            <a:avLst/>
          </a:prstGeom>
          <a:noFill/>
          <a:ln/>
        </p:spPr>
        <p:txBody>
          <a:bodyPr wrap="square" lIns="0" tIns="0" rIns="0" bIns="0" rtlCol="0" anchor="t"/>
          <a:lstStyle/>
          <a:p>
            <a:pPr marL="0" indent="0">
              <a:buNone/>
            </a:pPr>
            <a:r>
              <a:rPr lang="en-US" sz="1400" dirty="0">
                <a:solidFill>
                  <a:srgbClr val="2B2B2B"/>
                </a:solidFill>
                <a:latin typeface="Calibri" pitchFamily="34" charset="0"/>
                <a:ea typeface="Calibri" pitchFamily="34" charset="-122"/>
                <a:cs typeface="Calibri" pitchFamily="34" charset="-120"/>
              </a:rPr>
              <a:t>of customers got a product they later bought in their top 10, against the best sellers</a:t>
            </a:r>
            <a:endParaRPr lang="en-US" sz="1400" dirty="0"/>
          </a:p>
        </p:txBody>
      </p:sp>
      <p:sp>
        <p:nvSpPr>
          <p:cNvPr id="13" name="Result card 4"/>
          <p:cNvSpPr/>
          <p:nvPr/>
        </p:nvSpPr>
        <p:spPr>
          <a:xfrm>
            <a:off x="6720840" y="2926080"/>
            <a:ext cx="1965960" cy="1600200"/>
          </a:xfrm>
          <a:prstGeom prst="roundRect">
            <a:avLst>
              <a:gd name="adj" fmla="val 4571"/>
            </a:avLst>
          </a:prstGeom>
          <a:solidFill>
            <a:srgbClr val="F6EDF0"/>
          </a:solidFill>
          <a:ln w="12700">
            <a:solidFill>
              <a:srgbClr val="F6EDF0"/>
            </a:solidFill>
            <a:prstDash val="solid"/>
          </a:ln>
        </p:spPr>
        <p:txBody>
          <a:bodyPr/>
          <a:lstStyle/>
          <a:p>
            <a:endParaRPr lang="en-US"/>
          </a:p>
        </p:txBody>
      </p:sp>
      <p:sp>
        <p:nvSpPr>
          <p:cNvPr id="14" name="Result 4"/>
          <p:cNvSpPr txBox="1"/>
          <p:nvPr/>
        </p:nvSpPr>
        <p:spPr>
          <a:xfrm>
            <a:off x="6858000" y="3035808"/>
            <a:ext cx="1737360" cy="548640"/>
          </a:xfrm>
          <a:prstGeom prst="rect">
            <a:avLst/>
          </a:prstGeom>
          <a:noFill/>
          <a:ln/>
        </p:spPr>
        <p:txBody>
          <a:bodyPr wrap="square" lIns="0" tIns="0" rIns="0" bIns="0" rtlCol="0" anchor="t"/>
          <a:lstStyle/>
          <a:p>
            <a:pPr marL="0" indent="0">
              <a:buNone/>
            </a:pPr>
            <a:r>
              <a:rPr lang="en-US" sz="2800" b="1" dirty="0">
                <a:solidFill>
                  <a:srgbClr val="6D2E46"/>
                </a:solidFill>
                <a:latin typeface="Cambria" pitchFamily="34" charset="0"/>
                <a:ea typeface="Cambria" pitchFamily="34" charset="-122"/>
                <a:cs typeface="Cambria" pitchFamily="34" charset="-120"/>
              </a:rPr>
              <a:t>3 groups</a:t>
            </a:r>
            <a:endParaRPr lang="en-US" sz="2800" dirty="0"/>
          </a:p>
        </p:txBody>
      </p:sp>
      <p:sp>
        <p:nvSpPr>
          <p:cNvPr id="15" name="Result label 4"/>
          <p:cNvSpPr txBox="1"/>
          <p:nvPr/>
        </p:nvSpPr>
        <p:spPr>
          <a:xfrm>
            <a:off x="6858000" y="3611880"/>
            <a:ext cx="1737360" cy="914400"/>
          </a:xfrm>
          <a:prstGeom prst="rect">
            <a:avLst/>
          </a:prstGeom>
          <a:noFill/>
          <a:ln/>
        </p:spPr>
        <p:txBody>
          <a:bodyPr wrap="square" lIns="0" tIns="0" rIns="0" bIns="0" rtlCol="0" anchor="t"/>
          <a:lstStyle/>
          <a:p>
            <a:pPr marL="0" indent="0">
              <a:buNone/>
            </a:pPr>
            <a:r>
              <a:rPr lang="en-US" sz="1400" dirty="0">
                <a:solidFill>
                  <a:srgbClr val="2B2B2B"/>
                </a:solidFill>
                <a:latin typeface="Calibri" pitchFamily="34" charset="0"/>
                <a:ea typeface="Calibri" pitchFamily="34" charset="-122"/>
                <a:cs typeface="Calibri" pitchFamily="34" charset="-120"/>
              </a:rPr>
              <a:t>that marketing can name, from what customers buy</a:t>
            </a:r>
            <a:endParaRPr lang="en-US" sz="1400" dirty="0"/>
          </a:p>
        </p:txBody>
      </p:sp>
      <p:sp>
        <p:nvSpPr>
          <p:cNvPr id="16" name="Presenter"/>
          <p:cNvSpPr txBox="1"/>
          <p:nvPr/>
        </p:nvSpPr>
        <p:spPr>
          <a:xfrm>
            <a:off x="457200" y="4828032"/>
            <a:ext cx="4572000" cy="228600"/>
          </a:xfrm>
          <a:prstGeom prst="rect">
            <a:avLst/>
          </a:prstGeom>
          <a:noFill/>
          <a:ln/>
        </p:spPr>
        <p:txBody>
          <a:bodyPr wrap="square" lIns="0" tIns="0" rIns="0" bIns="0" rtlCol="0" anchor="t"/>
          <a:lstStyle/>
          <a:p>
            <a:pPr marL="0" indent="0">
              <a:buNone/>
            </a:pPr>
            <a:r>
              <a:rPr lang="en-US" sz="1100" dirty="0">
                <a:solidFill>
                  <a:srgbClr val="6B6B6B"/>
                </a:solidFill>
                <a:latin typeface="Calibri" pitchFamily="34" charset="0"/>
                <a:ea typeface="Calibri" pitchFamily="34" charset="-122"/>
                <a:cs typeface="Calibri" pitchFamily="34" charset="-120"/>
              </a:rPr>
              <a:t>Presenter: Manavkrishna Manoj</a:t>
            </a:r>
            <a:endParaRPr lang="en-US" sz="11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B6B"/>
                </a:solidFill>
                <a:latin typeface="Calibri"/>
                <a:ea typeface="Calibri"/>
                <a:cs typeface="Calibri"/>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31520"/>
          </a:xfrm>
          <a:prstGeom prst="rect">
            <a:avLst/>
          </a:prstGeom>
          <a:noFill/>
          <a:ln/>
        </p:spPr>
        <p:txBody>
          <a:bodyPr wrap="square" rtlCol="0" anchor="ctr"/>
          <a:lstStyle/>
          <a:p>
            <a:pPr marL="0" indent="0" algn="l">
              <a:buNone/>
            </a:pPr>
            <a:r>
              <a:rPr lang="en-US" sz="3400" b="1" dirty="0">
                <a:solidFill>
                  <a:srgbClr val="6D2E46"/>
                </a:solidFill>
                <a:latin typeface="Cambria" pitchFamily="34" charset="0"/>
                <a:ea typeface="Cambria" pitchFamily="34" charset="-122"/>
                <a:cs typeface="Cambria" pitchFamily="34" charset="-120"/>
              </a:rPr>
              <a:t>From raw lines to a matrix</a:t>
            </a:r>
            <a:endParaRPr lang="en-US" sz="3400" dirty="0"/>
          </a:p>
        </p:txBody>
      </p:sp>
      <p:graphicFrame>
        <p:nvGraphicFramePr>
          <p:cNvPr id="4" name="Cleaning table"/>
          <p:cNvGraphicFramePr>
            <a:graphicFrameLocks noGrp="1"/>
          </p:cNvGraphicFramePr>
          <p:nvPr>
            <p:extLst>
              <p:ext uri="{D42A27DB-BD31-4B8C-83A1-F6EECF244321}">
                <p14:modId xmlns:p14="http://schemas.microsoft.com/office/powerpoint/2010/main" val="1579011935"/>
              </p:ext>
            </p:extLst>
          </p:nvPr>
        </p:nvGraphicFramePr>
        <p:xfrm>
          <a:off x="457200" y="1188720"/>
          <a:ext cx="4206240" cy="3072384"/>
        </p:xfrm>
        <a:graphic>
          <a:graphicData uri="http://schemas.openxmlformats.org/drawingml/2006/table">
            <a:tbl>
              <a:tblPr/>
              <a:tblGrid>
                <a:gridCol w="27432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tblGrid>
              <a:tr h="384048">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Cleaning rule</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solidFill>
                      <a:srgbClr val="6D2E46"/>
                    </a:solidFill>
                  </a:tcPr>
                </a:tc>
                <a:tc>
                  <a:txBody>
                    <a:bodyPr/>
                    <a:lstStyle/>
                    <a:p>
                      <a:pPr marL="0" indent="0" algn="r">
                        <a:buNone/>
                      </a:pPr>
                      <a:r>
                        <a:rPr lang="en-US" sz="1500" b="1" dirty="0">
                          <a:solidFill>
                            <a:srgbClr val="FFFFFF"/>
                          </a:solidFill>
                          <a:latin typeface="Calibri" pitchFamily="34" charset="0"/>
                          <a:ea typeface="Calibri" pitchFamily="34" charset="-122"/>
                          <a:cs typeface="Calibri" pitchFamily="34" charset="-120"/>
                        </a:rPr>
                        <a:t>Lines removed</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solidFill>
                      <a:srgbClr val="6D2E46"/>
                    </a:solidFill>
                  </a:tcPr>
                </a:tc>
                <a:extLst>
                  <a:ext uri="{0D108BD9-81ED-4DB2-BD59-A6C34878D82A}">
                    <a16:rowId xmlns:a16="http://schemas.microsoft.com/office/drawing/2014/main" val="10000"/>
                  </a:ext>
                </a:extLst>
              </a:tr>
              <a:tr h="384048">
                <a:tc>
                  <a:txBody>
                    <a:bodyPr/>
                    <a:lstStyle/>
                    <a:p>
                      <a:pPr marL="0" indent="0" algn="l">
                        <a:buNone/>
                      </a:pPr>
                      <a:r>
                        <a:rPr lang="en-US" sz="1500" dirty="0">
                          <a:solidFill>
                            <a:srgbClr val="2B2B2B"/>
                          </a:solidFill>
                          <a:latin typeface="Calibri" pitchFamily="34" charset="0"/>
                          <a:ea typeface="Calibri" pitchFamily="34" charset="-122"/>
                          <a:cs typeface="Calibri" pitchFamily="34" charset="-120"/>
                        </a:rPr>
                        <a:t>Cancelled invoices</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tc>
                  <a:txBody>
                    <a:bodyPr/>
                    <a:lstStyle/>
                    <a:p>
                      <a:pPr marL="0" indent="0" algn="r">
                        <a:buNone/>
                      </a:pPr>
                      <a:r>
                        <a:rPr lang="en-US" sz="1500" dirty="0">
                          <a:solidFill>
                            <a:srgbClr val="2B2B2B"/>
                          </a:solidFill>
                          <a:latin typeface="Calibri" pitchFamily="34" charset="0"/>
                          <a:ea typeface="Calibri" pitchFamily="34" charset="-122"/>
                          <a:cs typeface="Calibri" pitchFamily="34" charset="-120"/>
                        </a:rPr>
                        <a:t>19,494</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l">
                        <a:buNone/>
                      </a:pPr>
                      <a:r>
                        <a:rPr lang="en-US" sz="1500" dirty="0">
                          <a:solidFill>
                            <a:srgbClr val="2B2B2B"/>
                          </a:solidFill>
                          <a:latin typeface="Calibri" pitchFamily="34" charset="0"/>
                          <a:ea typeface="Calibri" pitchFamily="34" charset="-122"/>
                          <a:cs typeface="Calibri" pitchFamily="34" charset="-120"/>
                        </a:rPr>
                        <a:t>Quantity of 0 or less</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tc>
                  <a:txBody>
                    <a:bodyPr/>
                    <a:lstStyle/>
                    <a:p>
                      <a:pPr marL="0" indent="0" algn="r">
                        <a:buNone/>
                      </a:pPr>
                      <a:r>
                        <a:rPr lang="en-US" sz="1500" dirty="0">
                          <a:solidFill>
                            <a:srgbClr val="2B2B2B"/>
                          </a:solidFill>
                          <a:latin typeface="Calibri" pitchFamily="34" charset="0"/>
                          <a:ea typeface="Calibri" pitchFamily="34" charset="-122"/>
                          <a:cs typeface="Calibri" pitchFamily="34" charset="-120"/>
                        </a:rPr>
                        <a:t>3,457</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l">
                        <a:buNone/>
                      </a:pPr>
                      <a:r>
                        <a:rPr lang="en-US" sz="1500" dirty="0">
                          <a:solidFill>
                            <a:srgbClr val="2B2B2B"/>
                          </a:solidFill>
                          <a:latin typeface="Calibri" pitchFamily="34" charset="0"/>
                          <a:ea typeface="Calibri" pitchFamily="34" charset="-122"/>
                          <a:cs typeface="Calibri" pitchFamily="34" charset="-120"/>
                        </a:rPr>
                        <a:t>Price of 0 or less</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tc>
                  <a:txBody>
                    <a:bodyPr/>
                    <a:lstStyle/>
                    <a:p>
                      <a:pPr marL="0" indent="0" algn="r">
                        <a:buNone/>
                      </a:pPr>
                      <a:r>
                        <a:rPr lang="en-US" sz="1500" dirty="0">
                          <a:solidFill>
                            <a:srgbClr val="2B2B2B"/>
                          </a:solidFill>
                          <a:latin typeface="Calibri" pitchFamily="34" charset="0"/>
                          <a:ea typeface="Calibri" pitchFamily="34" charset="-122"/>
                          <a:cs typeface="Calibri" pitchFamily="34" charset="-120"/>
                        </a:rPr>
                        <a:t>2,750</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l">
                        <a:buNone/>
                      </a:pPr>
                      <a:r>
                        <a:rPr lang="en-US" sz="1500" dirty="0">
                          <a:solidFill>
                            <a:srgbClr val="2B2B2B"/>
                          </a:solidFill>
                          <a:latin typeface="Calibri" pitchFamily="34" charset="0"/>
                          <a:ea typeface="Calibri" pitchFamily="34" charset="-122"/>
                          <a:cs typeface="Calibri" pitchFamily="34" charset="-120"/>
                        </a:rPr>
                        <a:t>Postage, fees, vouchers</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tc>
                  <a:txBody>
                    <a:bodyPr/>
                    <a:lstStyle/>
                    <a:p>
                      <a:pPr marL="0" indent="0" algn="r">
                        <a:buNone/>
                      </a:pPr>
                      <a:r>
                        <a:rPr lang="en-US" sz="1500" dirty="0">
                          <a:solidFill>
                            <a:srgbClr val="2B2B2B"/>
                          </a:solidFill>
                          <a:latin typeface="Calibri" pitchFamily="34" charset="0"/>
                          <a:ea typeface="Calibri" pitchFamily="34" charset="-122"/>
                          <a:cs typeface="Calibri" pitchFamily="34" charset="-120"/>
                        </a:rPr>
                        <a:t>4,668</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l">
                        <a:buNone/>
                      </a:pPr>
                      <a:r>
                        <a:rPr lang="en-US" sz="1500" dirty="0">
                          <a:solidFill>
                            <a:srgbClr val="2B2B2B"/>
                          </a:solidFill>
                          <a:latin typeface="Calibri" pitchFamily="34" charset="0"/>
                          <a:ea typeface="Calibri" pitchFamily="34" charset="-122"/>
                          <a:cs typeface="Calibri" pitchFamily="34" charset="-120"/>
                        </a:rPr>
                        <a:t>No customer ID</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tc>
                  <a:txBody>
                    <a:bodyPr/>
                    <a:lstStyle/>
                    <a:p>
                      <a:pPr marL="0" indent="0" algn="r">
                        <a:buNone/>
                      </a:pPr>
                      <a:r>
                        <a:rPr lang="en-US" sz="1500" dirty="0">
                          <a:solidFill>
                            <a:srgbClr val="2B2B2B"/>
                          </a:solidFill>
                          <a:latin typeface="Calibri" pitchFamily="34" charset="0"/>
                          <a:ea typeface="Calibri" pitchFamily="34" charset="-122"/>
                          <a:cs typeface="Calibri" pitchFamily="34" charset="-120"/>
                        </a:rPr>
                        <a:t>234,370</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lgn="l">
                        <a:buNone/>
                      </a:pPr>
                      <a:r>
                        <a:rPr lang="en-US" sz="1500" dirty="0">
                          <a:solidFill>
                            <a:srgbClr val="2B2B2B"/>
                          </a:solidFill>
                          <a:latin typeface="Calibri" pitchFamily="34" charset="0"/>
                          <a:ea typeface="Calibri" pitchFamily="34" charset="-122"/>
                          <a:cs typeface="Calibri" pitchFamily="34" charset="-120"/>
                        </a:rPr>
                        <a:t>Exact duplicates</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tc>
                  <a:txBody>
                    <a:bodyPr/>
                    <a:lstStyle/>
                    <a:p>
                      <a:pPr marL="0" indent="0" algn="r">
                        <a:buNone/>
                      </a:pPr>
                      <a:r>
                        <a:rPr lang="en-US" sz="1500" dirty="0">
                          <a:solidFill>
                            <a:srgbClr val="2B2B2B"/>
                          </a:solidFill>
                          <a:latin typeface="Calibri" pitchFamily="34" charset="0"/>
                          <a:ea typeface="Calibri" pitchFamily="34" charset="-122"/>
                          <a:cs typeface="Calibri" pitchFamily="34" charset="-120"/>
                        </a:rPr>
                        <a:t>26,055</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lgn="l">
                        <a:buNone/>
                      </a:pPr>
                      <a:r>
                        <a:rPr lang="en-US" sz="1500" b="1" dirty="0">
                          <a:solidFill>
                            <a:srgbClr val="2B2B2B"/>
                          </a:solidFill>
                          <a:latin typeface="Calibri" pitchFamily="34" charset="0"/>
                          <a:ea typeface="Calibri" pitchFamily="34" charset="-122"/>
                          <a:cs typeface="Calibri" pitchFamily="34" charset="-120"/>
                        </a:rPr>
                        <a:t>Left of 1,067,371</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tc>
                  <a:txBody>
                    <a:bodyPr/>
                    <a:lstStyle/>
                    <a:p>
                      <a:pPr marL="0" indent="0" algn="r">
                        <a:buNone/>
                      </a:pPr>
                      <a:r>
                        <a:rPr lang="en-US" sz="1500" b="1" dirty="0">
                          <a:solidFill>
                            <a:srgbClr val="2B2B2B"/>
                          </a:solidFill>
                          <a:latin typeface="Calibri" pitchFamily="34" charset="0"/>
                          <a:ea typeface="Calibri" pitchFamily="34" charset="-122"/>
                          <a:cs typeface="Calibri" pitchFamily="34" charset="-120"/>
                        </a:rPr>
                        <a:t>776,577</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3" name="Data notes"/>
          <p:cNvSpPr txBox="1"/>
          <p:nvPr/>
        </p:nvSpPr>
        <p:spPr>
          <a:xfrm>
            <a:off x="4983480" y="1188720"/>
            <a:ext cx="3703320" cy="3383280"/>
          </a:xfrm>
          <a:prstGeom prst="rect">
            <a:avLst/>
          </a:prstGeom>
          <a:noFill/>
          <a:ln/>
        </p:spPr>
        <p:txBody>
          <a:bodyPr wrap="square" lIns="0" tIns="0" rIns="0" bIns="0" rtlCol="0" anchor="t"/>
          <a:lstStyle/>
          <a:p>
            <a:pPr marL="0" indent="0">
              <a:spcAft>
                <a:spcPts val="200"/>
              </a:spcAft>
              <a:buNone/>
            </a:pPr>
            <a:r>
              <a:rPr lang="en-US" sz="1600" b="1" dirty="0">
                <a:solidFill>
                  <a:srgbClr val="2B2B2B"/>
                </a:solidFill>
                <a:latin typeface="Calibri" pitchFamily="34" charset="0"/>
                <a:ea typeface="Calibri" pitchFamily="34" charset="-122"/>
                <a:cs typeface="Calibri" pitchFamily="34" charset="-120"/>
              </a:rPr>
              <a:t>Split by time</a:t>
            </a:r>
            <a:endParaRPr lang="en-US" sz="1600" dirty="0"/>
          </a:p>
          <a:p>
            <a:pPr marL="0" indent="0">
              <a:spcAft>
                <a:spcPts val="200"/>
              </a:spcAft>
              <a:buNone/>
            </a:pPr>
            <a:r>
              <a:rPr lang="en-US" sz="1600" dirty="0">
                <a:solidFill>
                  <a:srgbClr val="2B2B2B"/>
                </a:solidFill>
                <a:latin typeface="Calibri" pitchFamily="34" charset="0"/>
                <a:ea typeface="Calibri" pitchFamily="34" charset="-122"/>
                <a:cs typeface="Calibri" pitchFamily="34" charset="-120"/>
              </a:rPr>
              <a:t>The model learns from everything before 9 October 2011. The last two months are the test.</a:t>
            </a:r>
            <a:endParaRPr lang="en-US" sz="1600" dirty="0"/>
          </a:p>
          <a:p>
            <a:pPr marL="0" indent="0">
              <a:spcAft>
                <a:spcPts val="200"/>
              </a:spcAft>
              <a:buNone/>
            </a:pPr>
            <a:r>
              <a:rPr lang="en-US" sz="600" dirty="0">
                <a:solidFill>
                  <a:srgbClr val="2B2B2B"/>
                </a:solidFill>
                <a:latin typeface="Calibri" pitchFamily="34" charset="0"/>
                <a:ea typeface="Calibri" pitchFamily="34" charset="-122"/>
                <a:cs typeface="Calibri" pitchFamily="34" charset="-120"/>
              </a:rPr>
              <a:t> </a:t>
            </a:r>
            <a:endParaRPr lang="en-US" sz="1600" dirty="0"/>
          </a:p>
          <a:p>
            <a:pPr marL="0" indent="0">
              <a:spcAft>
                <a:spcPts val="200"/>
              </a:spcAft>
              <a:buNone/>
            </a:pPr>
            <a:r>
              <a:rPr lang="en-US" sz="1600" b="1" dirty="0">
                <a:solidFill>
                  <a:srgbClr val="2B2B2B"/>
                </a:solidFill>
                <a:latin typeface="Calibri" pitchFamily="34" charset="0"/>
                <a:ea typeface="Calibri" pitchFamily="34" charset="-122"/>
                <a:cs typeface="Calibri" pitchFamily="34" charset="-120"/>
              </a:rPr>
              <a:t>The matrix</a:t>
            </a:r>
            <a:endParaRPr lang="en-US" sz="1600" dirty="0"/>
          </a:p>
          <a:p>
            <a:pPr marL="0" indent="0">
              <a:spcAft>
                <a:spcPts val="200"/>
              </a:spcAft>
              <a:buNone/>
            </a:pPr>
            <a:r>
              <a:rPr lang="en-US" sz="1600" dirty="0">
                <a:solidFill>
                  <a:srgbClr val="2B2B2B"/>
                </a:solidFill>
                <a:latin typeface="Calibri" pitchFamily="34" charset="0"/>
                <a:ea typeface="Calibri" pitchFamily="34" charset="-122"/>
                <a:cs typeface="Calibri" pitchFamily="34" charset="-120"/>
              </a:rPr>
              <a:t>5,471 customers by 3,686 products, 98% empty. A product needs at least 10 buyers to get in.</a:t>
            </a:r>
            <a:endParaRPr lang="en-US" sz="1600" dirty="0"/>
          </a:p>
          <a:p>
            <a:pPr marL="0" indent="0">
              <a:spcAft>
                <a:spcPts val="200"/>
              </a:spcAft>
              <a:buNone/>
            </a:pPr>
            <a:r>
              <a:rPr lang="en-US" sz="600" dirty="0">
                <a:solidFill>
                  <a:srgbClr val="2B2B2B"/>
                </a:solidFill>
                <a:latin typeface="Calibri" pitchFamily="34" charset="0"/>
                <a:ea typeface="Calibri" pitchFamily="34" charset="-122"/>
                <a:cs typeface="Calibri" pitchFamily="34" charset="-120"/>
              </a:rPr>
              <a:t> </a:t>
            </a:r>
            <a:endParaRPr lang="en-US" sz="1600" dirty="0"/>
          </a:p>
          <a:p>
            <a:pPr marL="0" indent="0">
              <a:spcAft>
                <a:spcPts val="200"/>
              </a:spcAft>
              <a:buNone/>
            </a:pPr>
            <a:r>
              <a:rPr lang="en-US" sz="1600" b="1" dirty="0">
                <a:solidFill>
                  <a:srgbClr val="2B2B2B"/>
                </a:solidFill>
                <a:latin typeface="Calibri" pitchFamily="34" charset="0"/>
                <a:ea typeface="Calibri" pitchFamily="34" charset="-122"/>
                <a:cs typeface="Calibri" pitchFamily="34" charset="-120"/>
              </a:rPr>
              <a:t>No peeking</a:t>
            </a:r>
            <a:endParaRPr lang="en-US" sz="1600" dirty="0"/>
          </a:p>
          <a:p>
            <a:pPr marL="0" indent="0">
              <a:spcAft>
                <a:spcPts val="200"/>
              </a:spcAft>
              <a:buNone/>
            </a:pPr>
            <a:r>
              <a:rPr lang="en-US" sz="1600" dirty="0">
                <a:solidFill>
                  <a:srgbClr val="2B2B2B"/>
                </a:solidFill>
                <a:latin typeface="Calibri" pitchFamily="34" charset="0"/>
                <a:ea typeface="Calibri" pitchFamily="34" charset="-122"/>
                <a:cs typeface="Calibri" pitchFamily="34" charset="-120"/>
              </a:rPr>
              <a:t>The matrix only uses training rows, so nothing from the test period leaks in.</a:t>
            </a:r>
            <a:endParaRPr lang="en-US" sz="1600" dirty="0"/>
          </a:p>
        </p:txBody>
      </p:sp>
      <p:sp>
        <p:nvSpPr>
          <p:cNvPr id="5" name="Presenter"/>
          <p:cNvSpPr txBox="1"/>
          <p:nvPr/>
        </p:nvSpPr>
        <p:spPr>
          <a:xfrm>
            <a:off x="457200" y="4828032"/>
            <a:ext cx="4572000" cy="228600"/>
          </a:xfrm>
          <a:prstGeom prst="rect">
            <a:avLst/>
          </a:prstGeom>
          <a:noFill/>
          <a:ln/>
        </p:spPr>
        <p:txBody>
          <a:bodyPr wrap="square" lIns="0" tIns="0" rIns="0" bIns="0" rtlCol="0" anchor="t"/>
          <a:lstStyle/>
          <a:p>
            <a:pPr marL="0" indent="0">
              <a:buNone/>
            </a:pPr>
            <a:r>
              <a:rPr lang="en-US" sz="1100" dirty="0">
                <a:solidFill>
                  <a:srgbClr val="6B6B6B"/>
                </a:solidFill>
                <a:latin typeface="Calibri" pitchFamily="34" charset="0"/>
                <a:ea typeface="Calibri" pitchFamily="34" charset="-122"/>
                <a:cs typeface="Calibri" pitchFamily="34" charset="-120"/>
              </a:rPr>
              <a:t>Presenter: Manavkrishna Manoj</a:t>
            </a:r>
            <a:endParaRPr lang="en-US" sz="11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B6B"/>
                </a:solidFill>
                <a:latin typeface="Calibri"/>
                <a:ea typeface="Calibri"/>
                <a:cs typeface="Calibri"/>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31520"/>
          </a:xfrm>
          <a:prstGeom prst="rect">
            <a:avLst/>
          </a:prstGeom>
          <a:noFill/>
          <a:ln/>
        </p:spPr>
        <p:txBody>
          <a:bodyPr wrap="square" rtlCol="0" anchor="ctr"/>
          <a:lstStyle/>
          <a:p>
            <a:pPr marL="0" indent="0" algn="l">
              <a:buNone/>
            </a:pPr>
            <a:r>
              <a:rPr lang="en-US" sz="3400" b="1" dirty="0">
                <a:solidFill>
                  <a:srgbClr val="6D2E46"/>
                </a:solidFill>
                <a:latin typeface="Cambria" pitchFamily="34" charset="0"/>
                <a:ea typeface="Cambria" pitchFamily="34" charset="-122"/>
                <a:cs typeface="Cambria" pitchFamily="34" charset="-120"/>
              </a:rPr>
              <a:t>SVD or PCA?</a:t>
            </a:r>
            <a:endParaRPr lang="en-US" sz="3400" dirty="0"/>
          </a:p>
        </p:txBody>
      </p:sp>
      <p:sp>
        <p:nvSpPr>
          <p:cNvPr id="3" name="Method text"/>
          <p:cNvSpPr txBox="1"/>
          <p:nvPr/>
        </p:nvSpPr>
        <p:spPr>
          <a:xfrm>
            <a:off x="457200" y="1188720"/>
            <a:ext cx="3657600" cy="2743200"/>
          </a:xfrm>
          <a:prstGeom prst="rect">
            <a:avLst/>
          </a:prstGeom>
          <a:noFill/>
          <a:ln/>
        </p:spPr>
        <p:txBody>
          <a:bodyPr wrap="square" lIns="0" tIns="0" rIns="0" bIns="0" rtlCol="0" anchor="t"/>
          <a:lstStyle/>
          <a:p>
            <a:pPr marL="0" indent="0">
              <a:buNone/>
            </a:pPr>
            <a:r>
              <a:rPr lang="en-US" sz="1800" dirty="0">
                <a:solidFill>
                  <a:srgbClr val="2B2B2B"/>
                </a:solidFill>
                <a:latin typeface="Calibri" pitchFamily="34" charset="0"/>
                <a:ea typeface="Calibri" pitchFamily="34" charset="-122"/>
                <a:cs typeface="Calibri" pitchFamily="34" charset="-120"/>
              </a:rPr>
              <a:t>Both squeeze the table into a few dimensions. SVD works on the table as it is. PCA subtracts the average customer first.</a:t>
            </a:r>
            <a:endParaRPr lang="en-US" sz="1800" dirty="0"/>
          </a:p>
          <a:p>
            <a:pPr marL="0" indent="0">
              <a:buNone/>
            </a:pPr>
            <a:r>
              <a:rPr lang="en-US" sz="800" dirty="0">
                <a:solidFill>
                  <a:srgbClr val="2B2B2B"/>
                </a:solidFill>
                <a:latin typeface="Calibri" pitchFamily="34" charset="0"/>
                <a:ea typeface="Calibri" pitchFamily="34" charset="-122"/>
                <a:cs typeface="Calibri" pitchFamily="34" charset="-120"/>
              </a:rPr>
              <a:t> </a:t>
            </a:r>
            <a:endParaRPr lang="en-US" sz="1800" dirty="0"/>
          </a:p>
          <a:p>
            <a:pPr marL="0" indent="0">
              <a:buNone/>
            </a:pPr>
            <a:r>
              <a:rPr lang="en-US" sz="1800" dirty="0">
                <a:solidFill>
                  <a:srgbClr val="2B2B2B"/>
                </a:solidFill>
                <a:latin typeface="Calibri" pitchFamily="34" charset="0"/>
                <a:ea typeface="Calibri" pitchFamily="34" charset="-122"/>
                <a:cs typeface="Calibri" pitchFamily="34" charset="-120"/>
              </a:rPr>
              <a:t>We picked SVD before fitting anything, because the table is mostly zeros and SVD doesn't need that centring step.</a:t>
            </a:r>
            <a:endParaRPr lang="en-US" sz="1800" dirty="0"/>
          </a:p>
          <a:p>
            <a:pPr marL="0" indent="0">
              <a:buNone/>
            </a:pPr>
            <a:r>
              <a:rPr lang="en-US" sz="800" dirty="0">
                <a:solidFill>
                  <a:srgbClr val="2B2B2B"/>
                </a:solidFill>
                <a:latin typeface="Calibri" pitchFamily="34" charset="0"/>
                <a:ea typeface="Calibri" pitchFamily="34" charset="-122"/>
                <a:cs typeface="Calibri" pitchFamily="34" charset="-120"/>
              </a:rPr>
              <a:t> </a:t>
            </a:r>
            <a:endParaRPr lang="en-US" sz="1800" dirty="0"/>
          </a:p>
          <a:p>
            <a:pPr marL="0" indent="0">
              <a:buNone/>
            </a:pPr>
            <a:r>
              <a:rPr lang="en-US" sz="1800" dirty="0">
                <a:solidFill>
                  <a:srgbClr val="2B2B2B"/>
                </a:solidFill>
                <a:latin typeface="Calibri" pitchFamily="34" charset="0"/>
                <a:ea typeface="Calibri" pitchFamily="34" charset="-122"/>
                <a:cs typeface="Calibri" pitchFamily="34" charset="-120"/>
              </a:rPr>
              <a:t>Then we ran PCA with the same k = 100 and compared.</a:t>
            </a:r>
            <a:endParaRPr lang="en-US" sz="1800" dirty="0"/>
          </a:p>
        </p:txBody>
      </p:sp>
      <p:graphicFrame>
        <p:nvGraphicFramePr>
          <p:cNvPr id="5" name="PCA vs SVD table"/>
          <p:cNvGraphicFramePr>
            <a:graphicFrameLocks noGrp="1"/>
          </p:cNvGraphicFramePr>
          <p:nvPr>
            <p:extLst>
              <p:ext uri="{D42A27DB-BD31-4B8C-83A1-F6EECF244321}">
                <p14:modId xmlns:p14="http://schemas.microsoft.com/office/powerpoint/2010/main" val="2681728241"/>
              </p:ext>
            </p:extLst>
          </p:nvPr>
        </p:nvGraphicFramePr>
        <p:xfrm>
          <a:off x="4343400" y="1188720"/>
          <a:ext cx="4343400" cy="2688336"/>
        </p:xfrm>
        <a:graphic>
          <a:graphicData uri="http://schemas.openxmlformats.org/drawingml/2006/table">
            <a:tbl>
              <a:tblPr/>
              <a:tblGrid>
                <a:gridCol w="150876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tblGrid>
              <a:tr h="384048">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Measure</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solidFill>
                      <a:srgbClr val="6D2E46"/>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PCA</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solidFill>
                      <a:srgbClr val="6D2E46"/>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SVD</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solidFill>
                      <a:srgbClr val="6D2E46"/>
                    </a:solidFill>
                  </a:tcPr>
                </a:tc>
                <a:extLst>
                  <a:ext uri="{0D108BD9-81ED-4DB2-BD59-A6C34878D82A}">
                    <a16:rowId xmlns:a16="http://schemas.microsoft.com/office/drawing/2014/main" val="10000"/>
                  </a:ext>
                </a:extLst>
              </a:tr>
              <a:tr h="384048">
                <a:tc>
                  <a:txBody>
                    <a:bodyPr/>
                    <a:lstStyle/>
                    <a:p>
                      <a:pPr marL="0" indent="0" algn="l">
                        <a:buNone/>
                      </a:pPr>
                      <a:r>
                        <a:rPr lang="en-US" sz="1500" dirty="0">
                          <a:solidFill>
                            <a:srgbClr val="2B2B2B"/>
                          </a:solidFill>
                          <a:latin typeface="Calibri" pitchFamily="34" charset="0"/>
                          <a:ea typeface="Calibri" pitchFamily="34" charset="-122"/>
                          <a:cs typeface="Calibri" pitchFamily="34" charset="-120"/>
                        </a:rPr>
                        <a:t>Fit time</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tc>
                  <a:txBody>
                    <a:bodyPr/>
                    <a:lstStyle/>
                    <a:p>
                      <a:pPr marL="0" indent="0" algn="l">
                        <a:buNone/>
                      </a:pPr>
                      <a:r>
                        <a:rPr lang="en-US" sz="1500">
                          <a:solidFill>
                            <a:srgbClr val="2B2B2B"/>
                          </a:solidFill>
                          <a:latin typeface="Calibri" pitchFamily="34" charset="0"/>
                          <a:ea typeface="Calibri" pitchFamily="34" charset="-122"/>
                          <a:cs typeface="Calibri" pitchFamily="34" charset="-120"/>
                        </a:rPr>
                        <a:t>0.40 </a:t>
                      </a:r>
                      <a:r>
                        <a:rPr lang="en-US" sz="1500" dirty="0">
                          <a:solidFill>
                            <a:srgbClr val="2B2B2B"/>
                          </a:solidFill>
                          <a:latin typeface="Calibri" pitchFamily="34" charset="0"/>
                          <a:ea typeface="Calibri" pitchFamily="34" charset="-122"/>
                          <a:cs typeface="Calibri" pitchFamily="34" charset="-120"/>
                        </a:rPr>
                        <a:t>s</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tc>
                  <a:txBody>
                    <a:bodyPr/>
                    <a:lstStyle/>
                    <a:p>
                      <a:pPr marL="0" indent="0" algn="l">
                        <a:buNone/>
                      </a:pPr>
                      <a:r>
                        <a:rPr lang="en-US" sz="1500">
                          <a:solidFill>
                            <a:srgbClr val="2B2B2B"/>
                          </a:solidFill>
                          <a:latin typeface="Calibri" pitchFamily="34" charset="0"/>
                          <a:ea typeface="Calibri" pitchFamily="34" charset="-122"/>
                          <a:cs typeface="Calibri" pitchFamily="34" charset="-120"/>
                        </a:rPr>
                        <a:t>0.28 </a:t>
                      </a:r>
                      <a:r>
                        <a:rPr lang="en-US" sz="1500" dirty="0">
                          <a:solidFill>
                            <a:srgbClr val="2B2B2B"/>
                          </a:solidFill>
                          <a:latin typeface="Calibri" pitchFamily="34" charset="0"/>
                          <a:ea typeface="Calibri" pitchFamily="34" charset="-122"/>
                          <a:cs typeface="Calibri" pitchFamily="34" charset="-120"/>
                        </a:rPr>
                        <a:t>s</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l">
                        <a:buNone/>
                      </a:pPr>
                      <a:r>
                        <a:rPr lang="en-US" sz="1500" dirty="0">
                          <a:solidFill>
                            <a:srgbClr val="2B2B2B"/>
                          </a:solidFill>
                          <a:latin typeface="Calibri" pitchFamily="34" charset="0"/>
                          <a:ea typeface="Calibri" pitchFamily="34" charset="-122"/>
                          <a:cs typeface="Calibri" pitchFamily="34" charset="-120"/>
                        </a:rPr>
                        <a:t>Peak memory</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tc>
                  <a:txBody>
                    <a:bodyPr/>
                    <a:lstStyle/>
                    <a:p>
                      <a:pPr marL="0" indent="0" algn="l">
                        <a:buNone/>
                      </a:pPr>
                      <a:r>
                        <a:rPr lang="en-US" sz="1500">
                          <a:solidFill>
                            <a:srgbClr val="2B2B2B"/>
                          </a:solidFill>
                          <a:latin typeface="Calibri" pitchFamily="34" charset="0"/>
                          <a:ea typeface="Calibri" pitchFamily="34" charset="-122"/>
                          <a:cs typeface="Calibri" pitchFamily="34" charset="-120"/>
                        </a:rPr>
                        <a:t>14.7 </a:t>
                      </a:r>
                      <a:r>
                        <a:rPr lang="en-US" sz="1500" dirty="0">
                          <a:solidFill>
                            <a:srgbClr val="2B2B2B"/>
                          </a:solidFill>
                          <a:latin typeface="Calibri" pitchFamily="34" charset="0"/>
                          <a:ea typeface="Calibri" pitchFamily="34" charset="-122"/>
                          <a:cs typeface="Calibri" pitchFamily="34" charset="-120"/>
                        </a:rPr>
                        <a:t>MB</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tc>
                  <a:txBody>
                    <a:bodyPr/>
                    <a:lstStyle/>
                    <a:p>
                      <a:pPr marL="0" indent="0" algn="l">
                        <a:buNone/>
                      </a:pPr>
                      <a:r>
                        <a:rPr lang="en-US" sz="1500" dirty="0">
                          <a:solidFill>
                            <a:srgbClr val="2B2B2B"/>
                          </a:solidFill>
                          <a:latin typeface="Calibri" pitchFamily="34" charset="0"/>
                          <a:ea typeface="Calibri" pitchFamily="34" charset="-122"/>
                          <a:cs typeface="Calibri" pitchFamily="34" charset="-120"/>
                        </a:rPr>
                        <a:t>17.0 MB</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l">
                        <a:buNone/>
                      </a:pPr>
                      <a:r>
                        <a:rPr lang="en-US" sz="1500" dirty="0">
                          <a:solidFill>
                            <a:srgbClr val="2B2B2B"/>
                          </a:solidFill>
                          <a:latin typeface="Calibri" pitchFamily="34" charset="0"/>
                          <a:ea typeface="Calibri" pitchFamily="34" charset="-122"/>
                          <a:cs typeface="Calibri" pitchFamily="34" charset="-120"/>
                        </a:rPr>
                        <a:t>Stored factors</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tc>
                  <a:txBody>
                    <a:bodyPr/>
                    <a:lstStyle/>
                    <a:p>
                      <a:pPr marL="0" indent="0" algn="l">
                        <a:buNone/>
                      </a:pPr>
                      <a:r>
                        <a:rPr lang="en-US" sz="1500" dirty="0">
                          <a:solidFill>
                            <a:srgbClr val="2B2B2B"/>
                          </a:solidFill>
                          <a:latin typeface="Calibri" pitchFamily="34" charset="0"/>
                          <a:ea typeface="Calibri" pitchFamily="34" charset="-122"/>
                          <a:cs typeface="Calibri" pitchFamily="34" charset="-120"/>
                        </a:rPr>
                        <a:t>7.01 MB</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tc>
                  <a:txBody>
                    <a:bodyPr/>
                    <a:lstStyle/>
                    <a:p>
                      <a:pPr marL="0" indent="0" algn="l">
                        <a:buNone/>
                      </a:pPr>
                      <a:r>
                        <a:rPr lang="en-US" sz="1500" dirty="0">
                          <a:solidFill>
                            <a:srgbClr val="2B2B2B"/>
                          </a:solidFill>
                          <a:latin typeface="Calibri" pitchFamily="34" charset="0"/>
                          <a:ea typeface="Calibri" pitchFamily="34" charset="-122"/>
                          <a:cs typeface="Calibri" pitchFamily="34" charset="-120"/>
                        </a:rPr>
                        <a:t>6.99 MB</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l">
                        <a:buNone/>
                      </a:pPr>
                      <a:r>
                        <a:rPr lang="en-US" sz="1500" dirty="0">
                          <a:solidFill>
                            <a:srgbClr val="2B2B2B"/>
                          </a:solidFill>
                          <a:latin typeface="Calibri" pitchFamily="34" charset="0"/>
                          <a:ea typeface="Calibri" pitchFamily="34" charset="-122"/>
                          <a:cs typeface="Calibri" pitchFamily="34" charset="-120"/>
                        </a:rPr>
                        <a:t>Detail kept*</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tc>
                  <a:txBody>
                    <a:bodyPr/>
                    <a:lstStyle/>
                    <a:p>
                      <a:pPr marL="0" indent="0" algn="l">
                        <a:buNone/>
                      </a:pPr>
                      <a:r>
                        <a:rPr lang="en-US" sz="1500" dirty="0">
                          <a:solidFill>
                            <a:srgbClr val="2B2B2B"/>
                          </a:solidFill>
                          <a:latin typeface="Calibri" pitchFamily="34" charset="0"/>
                          <a:ea typeface="Calibri" pitchFamily="34" charset="-122"/>
                          <a:cs typeface="Calibri" pitchFamily="34" charset="-120"/>
                        </a:rPr>
                        <a:t>44.9%</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tc>
                  <a:txBody>
                    <a:bodyPr/>
                    <a:lstStyle/>
                    <a:p>
                      <a:pPr marL="0" indent="0" algn="l">
                        <a:buNone/>
                      </a:pPr>
                      <a:r>
                        <a:rPr lang="en-US" sz="1500" dirty="0">
                          <a:solidFill>
                            <a:srgbClr val="2B2B2B"/>
                          </a:solidFill>
                          <a:latin typeface="Calibri" pitchFamily="34" charset="0"/>
                          <a:ea typeface="Calibri" pitchFamily="34" charset="-122"/>
                          <a:cs typeface="Calibri" pitchFamily="34" charset="-120"/>
                        </a:rPr>
                        <a:t>47.1%</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l">
                        <a:buNone/>
                      </a:pPr>
                      <a:r>
                        <a:rPr lang="en-US" sz="1500" dirty="0">
                          <a:solidFill>
                            <a:srgbClr val="2B2B2B"/>
                          </a:solidFill>
                          <a:latin typeface="Calibri" pitchFamily="34" charset="0"/>
                          <a:ea typeface="Calibri" pitchFamily="34" charset="-122"/>
                          <a:cs typeface="Calibri" pitchFamily="34" charset="-120"/>
                        </a:rPr>
                        <a:t>Hit rate at 10</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tc>
                  <a:txBody>
                    <a:bodyPr/>
                    <a:lstStyle/>
                    <a:p>
                      <a:pPr marL="0" indent="0" algn="l">
                        <a:buNone/>
                      </a:pPr>
                      <a:r>
                        <a:rPr lang="en-US" sz="1500" dirty="0">
                          <a:solidFill>
                            <a:srgbClr val="2B2B2B"/>
                          </a:solidFill>
                          <a:latin typeface="Calibri" pitchFamily="34" charset="0"/>
                          <a:ea typeface="Calibri" pitchFamily="34" charset="-122"/>
                          <a:cs typeface="Calibri" pitchFamily="34" charset="-120"/>
                        </a:rPr>
                        <a:t>38.5%</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tc>
                  <a:txBody>
                    <a:bodyPr/>
                    <a:lstStyle/>
                    <a:p>
                      <a:pPr marL="0" indent="0" algn="l">
                        <a:buNone/>
                      </a:pPr>
                      <a:r>
                        <a:rPr lang="en-US" sz="1500" dirty="0">
                          <a:solidFill>
                            <a:srgbClr val="2B2B2B"/>
                          </a:solidFill>
                          <a:latin typeface="Calibri" pitchFamily="34" charset="0"/>
                          <a:ea typeface="Calibri" pitchFamily="34" charset="-122"/>
                          <a:cs typeface="Calibri" pitchFamily="34" charset="-120"/>
                        </a:rPr>
                        <a:t>38.3%</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lgn="l">
                        <a:buNone/>
                      </a:pPr>
                      <a:r>
                        <a:rPr lang="en-US" sz="1500" dirty="0">
                          <a:solidFill>
                            <a:srgbClr val="2B2B2B"/>
                          </a:solidFill>
                          <a:latin typeface="Calibri" pitchFamily="34" charset="0"/>
                          <a:ea typeface="Calibri" pitchFamily="34" charset="-122"/>
                          <a:cs typeface="Calibri" pitchFamily="34" charset="-120"/>
                        </a:rPr>
                        <a:t>Component 1</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tc>
                  <a:txBody>
                    <a:bodyPr/>
                    <a:lstStyle/>
                    <a:p>
                      <a:pPr marL="0" indent="0" algn="l">
                        <a:buNone/>
                      </a:pPr>
                      <a:r>
                        <a:rPr lang="en-US" sz="1500" dirty="0">
                          <a:solidFill>
                            <a:srgbClr val="2B2B2B"/>
                          </a:solidFill>
                          <a:latin typeface="Calibri" pitchFamily="34" charset="0"/>
                          <a:ea typeface="Calibri" pitchFamily="34" charset="-122"/>
                          <a:cs typeface="Calibri" pitchFamily="34" charset="-120"/>
                        </a:rPr>
                        <a:t>Overall volume</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tc>
                  <a:txBody>
                    <a:bodyPr/>
                    <a:lstStyle/>
                    <a:p>
                      <a:pPr marL="0" indent="0" algn="l">
                        <a:buNone/>
                      </a:pPr>
                      <a:r>
                        <a:rPr lang="en-US" sz="1500" dirty="0">
                          <a:solidFill>
                            <a:srgbClr val="2B2B2B"/>
                          </a:solidFill>
                          <a:latin typeface="Calibri" pitchFamily="34" charset="0"/>
                          <a:ea typeface="Calibri" pitchFamily="34" charset="-122"/>
                          <a:cs typeface="Calibri" pitchFamily="34" charset="-120"/>
                        </a:rPr>
                        <a:t>Overall volume</a:t>
                      </a:r>
                      <a:endParaRPr lang="en-US" sz="1500" dirty="0">
                        <a:latin typeface="Calibri" charset="0"/>
                        <a:ea typeface="Calibri" charset="0"/>
                        <a:cs typeface="Calibri" charset="0"/>
                      </a:endParaRPr>
                    </a:p>
                  </a:txBody>
                  <a:tcPr anchor="ctr">
                    <a:lnL w="6350" cap="flat" cmpd="sng" algn="ctr">
                      <a:solidFill>
                        <a:srgbClr val="E2CFD6"/>
                      </a:solidFill>
                      <a:prstDash val="solid"/>
                      <a:round/>
                      <a:headEnd type="none" w="med" len="med"/>
                      <a:tailEnd type="none" w="med" len="med"/>
                    </a:lnL>
                    <a:lnR w="6350" cap="flat" cmpd="sng" algn="ctr">
                      <a:solidFill>
                        <a:srgbClr val="E2CFD6"/>
                      </a:solidFill>
                      <a:prstDash val="solid"/>
                      <a:round/>
                      <a:headEnd type="none" w="med" len="med"/>
                      <a:tailEnd type="none" w="med" len="med"/>
                    </a:lnR>
                    <a:lnT w="6350" cap="flat" cmpd="sng" algn="ctr">
                      <a:solidFill>
                        <a:srgbClr val="E2CFD6"/>
                      </a:solidFill>
                      <a:prstDash val="solid"/>
                      <a:round/>
                      <a:headEnd type="none" w="med" len="med"/>
                      <a:tailEnd type="none" w="med" len="med"/>
                    </a:lnT>
                    <a:lnB w="6350" cap="flat" cmpd="sng" algn="ctr">
                      <a:solidFill>
                        <a:srgbClr val="E2CFD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Table note"/>
          <p:cNvSpPr txBox="1"/>
          <p:nvPr/>
        </p:nvSpPr>
        <p:spPr>
          <a:xfrm>
            <a:off x="4343400" y="3904488"/>
            <a:ext cx="4343400" cy="228600"/>
          </a:xfrm>
          <a:prstGeom prst="rect">
            <a:avLst/>
          </a:prstGeom>
          <a:noFill/>
          <a:ln/>
        </p:spPr>
        <p:txBody>
          <a:bodyPr wrap="square" lIns="0" tIns="0" rIns="0" bIns="0" rtlCol="0" anchor="t"/>
          <a:lstStyle/>
          <a:p>
            <a:pPr marL="0" indent="0">
              <a:buNone/>
            </a:pPr>
            <a:r>
              <a:rPr lang="en-US" sz="1100" dirty="0">
                <a:solidFill>
                  <a:srgbClr val="6B6B6B"/>
                </a:solidFill>
                <a:latin typeface="Calibri" pitchFamily="34" charset="0"/>
                <a:ea typeface="Calibri" pitchFamily="34" charset="-122"/>
                <a:cs typeface="Calibri" pitchFamily="34" charset="-120"/>
              </a:rPr>
              <a:t>*variance explained (PCA) and matrix energy kept (SVD)</a:t>
            </a:r>
            <a:endParaRPr lang="en-US" sz="1100" dirty="0"/>
          </a:p>
        </p:txBody>
      </p:sp>
      <p:sp>
        <p:nvSpPr>
          <p:cNvPr id="6" name="Takeaway box"/>
          <p:cNvSpPr/>
          <p:nvPr/>
        </p:nvSpPr>
        <p:spPr>
          <a:xfrm>
            <a:off x="457200" y="4251960"/>
            <a:ext cx="8229600" cy="502920"/>
          </a:xfrm>
          <a:prstGeom prst="roundRect">
            <a:avLst>
              <a:gd name="adj" fmla="val 14545"/>
            </a:avLst>
          </a:prstGeom>
          <a:solidFill>
            <a:srgbClr val="F6EDF0"/>
          </a:solidFill>
          <a:ln w="12700">
            <a:solidFill>
              <a:srgbClr val="F6EDF0"/>
            </a:solidFill>
            <a:prstDash val="solid"/>
          </a:ln>
        </p:spPr>
        <p:txBody>
          <a:bodyPr/>
          <a:lstStyle/>
          <a:p>
            <a:endParaRPr lang="en-US"/>
          </a:p>
        </p:txBody>
      </p:sp>
      <p:sp>
        <p:nvSpPr>
          <p:cNvPr id="7" name="Takeaway"/>
          <p:cNvSpPr txBox="1"/>
          <p:nvPr/>
        </p:nvSpPr>
        <p:spPr>
          <a:xfrm>
            <a:off x="640080" y="4352544"/>
            <a:ext cx="7863840" cy="320040"/>
          </a:xfrm>
          <a:prstGeom prst="rect">
            <a:avLst/>
          </a:prstGeom>
          <a:noFill/>
          <a:ln/>
        </p:spPr>
        <p:txBody>
          <a:bodyPr wrap="square" lIns="0" tIns="0" rIns="0" bIns="0" rtlCol="0" anchor="t"/>
          <a:lstStyle/>
          <a:p>
            <a:pPr marL="0" indent="0">
              <a:buNone/>
            </a:pPr>
            <a:r>
              <a:rPr lang="en-US" sz="1600" b="1" dirty="0">
                <a:solidFill>
                  <a:srgbClr val="6D2E46"/>
                </a:solidFill>
                <a:latin typeface="Calibri" pitchFamily="34" charset="0"/>
                <a:ea typeface="Calibri" pitchFamily="34" charset="-122"/>
                <a:cs typeface="Calibri" pitchFamily="34" charset="-120"/>
              </a:rPr>
              <a:t>Same quality either way, so we kept SVD: simpler, with no centring step.</a:t>
            </a:r>
            <a:endParaRPr lang="en-US" sz="1600" dirty="0"/>
          </a:p>
        </p:txBody>
      </p:sp>
      <p:sp>
        <p:nvSpPr>
          <p:cNvPr id="8" name="Presenter"/>
          <p:cNvSpPr txBox="1"/>
          <p:nvPr/>
        </p:nvSpPr>
        <p:spPr>
          <a:xfrm>
            <a:off x="457200" y="4828032"/>
            <a:ext cx="4572000" cy="228600"/>
          </a:xfrm>
          <a:prstGeom prst="rect">
            <a:avLst/>
          </a:prstGeom>
          <a:noFill/>
          <a:ln/>
        </p:spPr>
        <p:txBody>
          <a:bodyPr wrap="square" lIns="0" tIns="0" rIns="0" bIns="0" rtlCol="0" anchor="t"/>
          <a:lstStyle/>
          <a:p>
            <a:pPr marL="0" indent="0">
              <a:buNone/>
            </a:pPr>
            <a:r>
              <a:rPr lang="en-US" sz="1100" dirty="0">
                <a:solidFill>
                  <a:srgbClr val="6B6B6B"/>
                </a:solidFill>
                <a:latin typeface="Calibri" pitchFamily="34" charset="0"/>
                <a:ea typeface="Calibri" pitchFamily="34" charset="-122"/>
                <a:cs typeface="Calibri" pitchFamily="34" charset="-120"/>
              </a:rPr>
              <a:t>Presenter: Jeevan Mandala</a:t>
            </a:r>
            <a:endParaRPr lang="en-US" sz="11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B6B"/>
                </a:solidFill>
                <a:latin typeface="Calibri"/>
                <a:ea typeface="Calibri"/>
                <a:cs typeface="Calibri"/>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31520"/>
          </a:xfrm>
          <a:prstGeom prst="rect">
            <a:avLst/>
          </a:prstGeom>
          <a:noFill/>
          <a:ln/>
        </p:spPr>
        <p:txBody>
          <a:bodyPr wrap="square" rtlCol="0" anchor="ctr"/>
          <a:lstStyle/>
          <a:p>
            <a:pPr marL="0" indent="0" algn="l">
              <a:buNone/>
            </a:pPr>
            <a:r>
              <a:rPr lang="en-US" sz="3400" b="1" dirty="0">
                <a:solidFill>
                  <a:srgbClr val="6D2E46"/>
                </a:solidFill>
                <a:latin typeface="Cambria" pitchFamily="34" charset="0"/>
                <a:ea typeface="Cambria" pitchFamily="34" charset="-122"/>
                <a:cs typeface="Cambria" pitchFamily="34" charset="-120"/>
              </a:rPr>
              <a:t>Picking the number of dimensions</a:t>
            </a:r>
            <a:endParaRPr lang="en-US" sz="3400" dirty="0"/>
          </a:p>
        </p:txBody>
      </p:sp>
      <p:graphicFrame>
        <p:nvGraphicFramePr>
          <p:cNvPr id="3" name="Chart 0"/>
          <p:cNvGraphicFramePr/>
          <p:nvPr/>
        </p:nvGraphicFramePr>
        <p:xfrm>
          <a:off x="365760" y="1097280"/>
          <a:ext cx="512064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4" name="Choosing k text"/>
          <p:cNvSpPr txBox="1"/>
          <p:nvPr/>
        </p:nvSpPr>
        <p:spPr>
          <a:xfrm>
            <a:off x="5669280" y="1188720"/>
            <a:ext cx="3108960" cy="3474720"/>
          </a:xfrm>
          <a:prstGeom prst="rect">
            <a:avLst/>
          </a:prstGeom>
          <a:noFill/>
          <a:ln/>
        </p:spPr>
        <p:txBody>
          <a:bodyPr wrap="square" lIns="0" tIns="0" rIns="0" bIns="0" rtlCol="0" anchor="t"/>
          <a:lstStyle/>
          <a:p>
            <a:pPr marL="0" indent="0">
              <a:buNone/>
            </a:pPr>
            <a:r>
              <a:rPr lang="en-US" sz="1500" dirty="0">
                <a:solidFill>
                  <a:srgbClr val="2B2B2B"/>
                </a:solidFill>
                <a:latin typeface="Calibri" pitchFamily="34" charset="0"/>
                <a:ea typeface="Calibri" pitchFamily="34" charset="-122"/>
                <a:cs typeface="Calibri" pitchFamily="34" charset="-120"/>
              </a:rPr>
              <a:t>The error curve has no clear elbow. It just keeps falling slowly, from 0.88 at k = 10 to 0.64 at k = 200.</a:t>
            </a:r>
            <a:endParaRPr lang="en-US" sz="1500" dirty="0"/>
          </a:p>
          <a:p>
            <a:pPr marL="0" indent="0">
              <a:buNone/>
            </a:pPr>
            <a:r>
              <a:rPr lang="en-US" sz="600" dirty="0">
                <a:solidFill>
                  <a:srgbClr val="2B2B2B"/>
                </a:solidFill>
                <a:latin typeface="Calibri" pitchFamily="34" charset="0"/>
                <a:ea typeface="Calibri" pitchFamily="34" charset="-122"/>
                <a:cs typeface="Calibri" pitchFamily="34" charset="-120"/>
              </a:rPr>
              <a:t> </a:t>
            </a:r>
            <a:endParaRPr lang="en-US" sz="1500" dirty="0"/>
          </a:p>
          <a:p>
            <a:pPr marL="0" indent="0">
              <a:buNone/>
            </a:pPr>
            <a:r>
              <a:rPr lang="en-US" sz="1500" dirty="0">
                <a:solidFill>
                  <a:srgbClr val="2B2B2B"/>
                </a:solidFill>
                <a:latin typeface="Calibri" pitchFamily="34" charset="0"/>
                <a:ea typeface="Calibri" pitchFamily="34" charset="-122"/>
                <a:cs typeface="Calibri" pitchFamily="34" charset="-120"/>
              </a:rPr>
              <a:t>So we used a validation period cut from the end of the training data. The hit rate stops improving after k = 100.</a:t>
            </a:r>
            <a:endParaRPr lang="en-US" sz="1500" dirty="0"/>
          </a:p>
          <a:p>
            <a:pPr marL="0" indent="0">
              <a:buNone/>
            </a:pPr>
            <a:r>
              <a:rPr lang="en-US" sz="600" dirty="0">
                <a:solidFill>
                  <a:srgbClr val="2B2B2B"/>
                </a:solidFill>
                <a:latin typeface="Calibri" pitchFamily="34" charset="0"/>
                <a:ea typeface="Calibri" pitchFamily="34" charset="-122"/>
                <a:cs typeface="Calibri" pitchFamily="34" charset="-120"/>
              </a:rPr>
              <a:t> </a:t>
            </a:r>
            <a:endParaRPr lang="en-US" sz="1500" dirty="0"/>
          </a:p>
          <a:p>
            <a:pPr marL="0" indent="0">
              <a:buNone/>
            </a:pPr>
            <a:r>
              <a:rPr lang="en-US" sz="1500" dirty="0">
                <a:solidFill>
                  <a:srgbClr val="2B2B2B"/>
                </a:solidFill>
                <a:latin typeface="Calibri" pitchFamily="34" charset="0"/>
                <a:ea typeface="Calibri" pitchFamily="34" charset="-122"/>
                <a:cs typeface="Calibri" pitchFamily="34" charset="-120"/>
              </a:rPr>
              <a:t>Rule: the smallest k within one point of the best. That gives k = 100, with factors of 7 MB (the sparse table is 4.8 MB).</a:t>
            </a:r>
            <a:endParaRPr lang="en-US" sz="1500" dirty="0"/>
          </a:p>
        </p:txBody>
      </p:sp>
      <p:sp>
        <p:nvSpPr>
          <p:cNvPr id="5" name="Presenter"/>
          <p:cNvSpPr txBox="1"/>
          <p:nvPr/>
        </p:nvSpPr>
        <p:spPr>
          <a:xfrm>
            <a:off x="457200" y="4828032"/>
            <a:ext cx="4572000" cy="228600"/>
          </a:xfrm>
          <a:prstGeom prst="rect">
            <a:avLst/>
          </a:prstGeom>
          <a:noFill/>
          <a:ln/>
        </p:spPr>
        <p:txBody>
          <a:bodyPr wrap="square" lIns="0" tIns="0" rIns="0" bIns="0" rtlCol="0" anchor="t"/>
          <a:lstStyle/>
          <a:p>
            <a:pPr marL="0" indent="0">
              <a:buNone/>
            </a:pPr>
            <a:r>
              <a:rPr lang="en-US" sz="1100" dirty="0">
                <a:solidFill>
                  <a:srgbClr val="6B6B6B"/>
                </a:solidFill>
                <a:latin typeface="Calibri" pitchFamily="34" charset="0"/>
                <a:ea typeface="Calibri" pitchFamily="34" charset="-122"/>
                <a:cs typeface="Calibri" pitchFamily="34" charset="-120"/>
              </a:rPr>
              <a:t>Presenter: Jeevan Mandala</a:t>
            </a:r>
            <a:endParaRPr lang="en-US" sz="11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B6B"/>
                </a:solidFill>
                <a:latin typeface="Calibri"/>
                <a:ea typeface="Calibri"/>
                <a:cs typeface="Calibri"/>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31520"/>
          </a:xfrm>
          <a:prstGeom prst="rect">
            <a:avLst/>
          </a:prstGeom>
          <a:noFill/>
          <a:ln/>
        </p:spPr>
        <p:txBody>
          <a:bodyPr wrap="square" rtlCol="0" anchor="ctr"/>
          <a:lstStyle/>
          <a:p>
            <a:pPr marL="0" indent="0" algn="l">
              <a:buNone/>
            </a:pPr>
            <a:r>
              <a:rPr lang="en-US" sz="3400" b="1" dirty="0">
                <a:solidFill>
                  <a:srgbClr val="6D2E46"/>
                </a:solidFill>
                <a:latin typeface="Cambria" pitchFamily="34" charset="0"/>
                <a:ea typeface="Cambria" pitchFamily="34" charset="-122"/>
                <a:cs typeface="Cambria" pitchFamily="34" charset="-120"/>
              </a:rPr>
              <a:t>Do we beat the best sellers?</a:t>
            </a:r>
            <a:endParaRPr lang="en-US" sz="3400" dirty="0"/>
          </a:p>
        </p:txBody>
      </p:sp>
      <p:graphicFrame>
        <p:nvGraphicFramePr>
          <p:cNvPr id="3" name="Chart 0"/>
          <p:cNvGraphicFramePr/>
          <p:nvPr/>
        </p:nvGraphicFramePr>
        <p:xfrm>
          <a:off x="365760" y="1097280"/>
          <a:ext cx="475488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4" name="Gap stat"/>
          <p:cNvSpPr txBox="1"/>
          <p:nvPr/>
        </p:nvSpPr>
        <p:spPr>
          <a:xfrm>
            <a:off x="5394960" y="1143000"/>
            <a:ext cx="3291840" cy="548640"/>
          </a:xfrm>
          <a:prstGeom prst="rect">
            <a:avLst/>
          </a:prstGeom>
          <a:noFill/>
          <a:ln/>
        </p:spPr>
        <p:txBody>
          <a:bodyPr wrap="square" lIns="0" tIns="0" rIns="0" bIns="0" rtlCol="0" anchor="t"/>
          <a:lstStyle/>
          <a:p>
            <a:pPr marL="0" indent="0">
              <a:buNone/>
            </a:pPr>
            <a:r>
              <a:rPr lang="en-US" sz="3200" b="1" dirty="0">
                <a:solidFill>
                  <a:srgbClr val="6D2E46"/>
                </a:solidFill>
                <a:latin typeface="Cambria" pitchFamily="34" charset="0"/>
                <a:ea typeface="Cambria" pitchFamily="34" charset="-122"/>
                <a:cs typeface="Cambria" pitchFamily="34" charset="-120"/>
              </a:rPr>
              <a:t>+11.3 points</a:t>
            </a:r>
            <a:endParaRPr lang="en-US" sz="3200" dirty="0"/>
          </a:p>
        </p:txBody>
      </p:sp>
      <p:sp>
        <p:nvSpPr>
          <p:cNvPr id="5" name="Results text"/>
          <p:cNvSpPr txBox="1"/>
          <p:nvPr/>
        </p:nvSpPr>
        <p:spPr>
          <a:xfrm>
            <a:off x="5394960" y="1737360"/>
            <a:ext cx="3291840" cy="3017520"/>
          </a:xfrm>
          <a:prstGeom prst="rect">
            <a:avLst/>
          </a:prstGeom>
          <a:noFill/>
          <a:ln/>
        </p:spPr>
        <p:txBody>
          <a:bodyPr wrap="square" lIns="0" tIns="0" rIns="0" bIns="0" rtlCol="0" anchor="t"/>
          <a:lstStyle/>
          <a:p>
            <a:pPr marL="0" indent="0">
              <a:buNone/>
            </a:pPr>
            <a:r>
              <a:rPr lang="en-US" sz="1500" dirty="0">
                <a:solidFill>
                  <a:srgbClr val="2B2B2B"/>
                </a:solidFill>
                <a:latin typeface="Calibri" pitchFamily="34" charset="0"/>
                <a:ea typeface="Calibri" pitchFamily="34" charset="-122"/>
                <a:cs typeface="Calibri" pitchFamily="34" charset="-120"/>
              </a:rPr>
              <a:t>over the best sellers, and the 95% range (8.6 to 14.0) doesn't include zero.</a:t>
            </a:r>
            <a:endParaRPr lang="en-US" sz="1500" dirty="0"/>
          </a:p>
          <a:p>
            <a:pPr marL="0" indent="0">
              <a:buNone/>
            </a:pPr>
            <a:r>
              <a:rPr lang="en-US" sz="600" dirty="0">
                <a:solidFill>
                  <a:srgbClr val="2B2B2B"/>
                </a:solidFill>
                <a:latin typeface="Calibri" pitchFamily="34" charset="0"/>
                <a:ea typeface="Calibri" pitchFamily="34" charset="-122"/>
                <a:cs typeface="Calibri" pitchFamily="34" charset="-120"/>
              </a:rPr>
              <a:t> </a:t>
            </a:r>
            <a:endParaRPr lang="en-US" sz="1500" dirty="0"/>
          </a:p>
          <a:p>
            <a:pPr marL="0" indent="0">
              <a:buNone/>
            </a:pPr>
            <a:r>
              <a:rPr lang="en-US" sz="1500" dirty="0">
                <a:solidFill>
                  <a:srgbClr val="2B2B2B"/>
                </a:solidFill>
                <a:latin typeface="Calibri" pitchFamily="34" charset="0"/>
                <a:ea typeface="Calibri" pitchFamily="34" charset="-122"/>
                <a:cs typeface="Calibri" pitchFamily="34" charset="-120"/>
              </a:rPr>
              <a:t>452 customers were hit only by our model and 236 only by the best sellers.</a:t>
            </a:r>
            <a:endParaRPr lang="en-US" sz="1500" dirty="0"/>
          </a:p>
          <a:p>
            <a:pPr marL="0" indent="0">
              <a:buNone/>
            </a:pPr>
            <a:r>
              <a:rPr lang="en-US" sz="600" dirty="0">
                <a:solidFill>
                  <a:srgbClr val="2B2B2B"/>
                </a:solidFill>
                <a:latin typeface="Calibri" pitchFamily="34" charset="0"/>
                <a:ea typeface="Calibri" pitchFamily="34" charset="-122"/>
                <a:cs typeface="Calibri" pitchFamily="34" charset="-120"/>
              </a:rPr>
              <a:t> </a:t>
            </a:r>
            <a:endParaRPr lang="en-US" sz="1500" dirty="0"/>
          </a:p>
          <a:p>
            <a:pPr marL="0" indent="0">
              <a:buNone/>
            </a:pPr>
            <a:r>
              <a:rPr lang="en-US" sz="1500" dirty="0">
                <a:solidFill>
                  <a:srgbClr val="2B2B2B"/>
                </a:solidFill>
                <a:latin typeface="Calibri" pitchFamily="34" charset="0"/>
                <a:ea typeface="Calibri" pitchFamily="34" charset="-122"/>
                <a:cs typeface="Calibri" pitchFamily="34" charset="-120"/>
              </a:rPr>
              <a:t>Our first scoring lost because it scales every product to the same length, which hides how popular it is. Customers here keep buying popular lines, so the final scoring keeps popularity as well as their own history.</a:t>
            </a:r>
            <a:endParaRPr lang="en-US" sz="1500" dirty="0"/>
          </a:p>
        </p:txBody>
      </p:sp>
      <p:sp>
        <p:nvSpPr>
          <p:cNvPr id="6" name="Presenter"/>
          <p:cNvSpPr txBox="1"/>
          <p:nvPr/>
        </p:nvSpPr>
        <p:spPr>
          <a:xfrm>
            <a:off x="457200" y="4828032"/>
            <a:ext cx="4572000" cy="228600"/>
          </a:xfrm>
          <a:prstGeom prst="rect">
            <a:avLst/>
          </a:prstGeom>
          <a:noFill/>
          <a:ln/>
        </p:spPr>
        <p:txBody>
          <a:bodyPr wrap="square" lIns="0" tIns="0" rIns="0" bIns="0" rtlCol="0" anchor="t"/>
          <a:lstStyle/>
          <a:p>
            <a:pPr marL="0" indent="0">
              <a:buNone/>
            </a:pPr>
            <a:r>
              <a:rPr lang="en-US" sz="1100" dirty="0">
                <a:solidFill>
                  <a:srgbClr val="6B6B6B"/>
                </a:solidFill>
                <a:latin typeface="Calibri" pitchFamily="34" charset="0"/>
                <a:ea typeface="Calibri" pitchFamily="34" charset="-122"/>
                <a:cs typeface="Calibri" pitchFamily="34" charset="-120"/>
              </a:rPr>
              <a:t>Presenter: Jeevan Mandala</a:t>
            </a:r>
            <a:endParaRPr lang="en-US" sz="11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B6B"/>
                </a:solidFill>
                <a:latin typeface="Calibri"/>
                <a:ea typeface="Calibri"/>
                <a:cs typeface="Calibri"/>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31520"/>
          </a:xfrm>
          <a:prstGeom prst="rect">
            <a:avLst/>
          </a:prstGeom>
          <a:noFill/>
          <a:ln/>
        </p:spPr>
        <p:txBody>
          <a:bodyPr wrap="square" rtlCol="0" anchor="ctr"/>
          <a:lstStyle/>
          <a:p>
            <a:pPr marL="0" indent="0" algn="l">
              <a:buNone/>
            </a:pPr>
            <a:r>
              <a:rPr lang="en-US" sz="3400" b="1" dirty="0">
                <a:solidFill>
                  <a:srgbClr val="6D2E46"/>
                </a:solidFill>
                <a:latin typeface="Cambria" pitchFamily="34" charset="0"/>
                <a:ea typeface="Cambria" pitchFamily="34" charset="-122"/>
                <a:cs typeface="Cambria" pitchFamily="34" charset="-120"/>
              </a:rPr>
              <a:t>What the suggestions look like</a:t>
            </a:r>
            <a:endParaRPr lang="en-US" sz="3400" dirty="0"/>
          </a:p>
        </p:txBody>
      </p:sp>
      <p:sp>
        <p:nvSpPr>
          <p:cNvPr id="3" name="Example card 1"/>
          <p:cNvSpPr/>
          <p:nvPr/>
        </p:nvSpPr>
        <p:spPr>
          <a:xfrm>
            <a:off x="457200" y="1143000"/>
            <a:ext cx="2651760" cy="2880360"/>
          </a:xfrm>
          <a:prstGeom prst="roundRect">
            <a:avLst>
              <a:gd name="adj" fmla="val 2759"/>
            </a:avLst>
          </a:prstGeom>
          <a:solidFill>
            <a:srgbClr val="F6EDF0"/>
          </a:solidFill>
          <a:ln w="12700">
            <a:solidFill>
              <a:srgbClr val="F6EDF0"/>
            </a:solidFill>
            <a:prstDash val="solid"/>
          </a:ln>
        </p:spPr>
        <p:txBody>
          <a:bodyPr/>
          <a:lstStyle/>
          <a:p>
            <a:endParaRPr lang="en-US"/>
          </a:p>
        </p:txBody>
      </p:sp>
      <p:sp>
        <p:nvSpPr>
          <p:cNvPr id="4" name="Example label 1"/>
          <p:cNvSpPr txBox="1"/>
          <p:nvPr/>
        </p:nvSpPr>
        <p:spPr>
          <a:xfrm>
            <a:off x="594360" y="1234440"/>
            <a:ext cx="2377440" cy="228600"/>
          </a:xfrm>
          <a:prstGeom prst="rect">
            <a:avLst/>
          </a:prstGeom>
          <a:noFill/>
          <a:ln/>
        </p:spPr>
        <p:txBody>
          <a:bodyPr wrap="square" lIns="0" tIns="0" rIns="0" bIns="0" rtlCol="0" anchor="t"/>
          <a:lstStyle/>
          <a:p>
            <a:pPr marL="0" indent="0">
              <a:buNone/>
            </a:pPr>
            <a:r>
              <a:rPr lang="en-US" sz="1100" dirty="0">
                <a:solidFill>
                  <a:srgbClr val="6B6B6B"/>
                </a:solidFill>
                <a:latin typeface="Calibri" pitchFamily="34" charset="0"/>
                <a:ea typeface="Calibri" pitchFamily="34" charset="-122"/>
                <a:cs typeface="Calibri" pitchFamily="34" charset="-120"/>
              </a:rPr>
              <a:t>If you're looking at</a:t>
            </a:r>
            <a:endParaRPr lang="en-US" sz="1100" dirty="0"/>
          </a:p>
        </p:txBody>
      </p:sp>
      <p:sp>
        <p:nvSpPr>
          <p:cNvPr id="5" name="Example product 1"/>
          <p:cNvSpPr txBox="1"/>
          <p:nvPr/>
        </p:nvSpPr>
        <p:spPr>
          <a:xfrm>
            <a:off x="594360" y="1463040"/>
            <a:ext cx="2377440" cy="594360"/>
          </a:xfrm>
          <a:prstGeom prst="rect">
            <a:avLst/>
          </a:prstGeom>
          <a:noFill/>
          <a:ln/>
        </p:spPr>
        <p:txBody>
          <a:bodyPr wrap="square" lIns="0" tIns="0" rIns="0" bIns="0" rtlCol="0" anchor="t"/>
          <a:lstStyle/>
          <a:p>
            <a:pPr marL="0" indent="0">
              <a:buNone/>
            </a:pPr>
            <a:r>
              <a:rPr lang="en-US" sz="1600" b="1" dirty="0">
                <a:solidFill>
                  <a:srgbClr val="6D2E46"/>
                </a:solidFill>
                <a:latin typeface="Cambria" pitchFamily="34" charset="0"/>
                <a:ea typeface="Cambria" pitchFamily="34" charset="-122"/>
                <a:cs typeface="Cambria" pitchFamily="34" charset="-120"/>
              </a:rPr>
              <a:t>Regency cakestand 3 tier</a:t>
            </a:r>
            <a:endParaRPr lang="en-US" sz="1600" dirty="0"/>
          </a:p>
        </p:txBody>
      </p:sp>
      <p:sp>
        <p:nvSpPr>
          <p:cNvPr id="6" name="Example list 1"/>
          <p:cNvSpPr txBox="1"/>
          <p:nvPr/>
        </p:nvSpPr>
        <p:spPr>
          <a:xfrm>
            <a:off x="594360" y="2103120"/>
            <a:ext cx="2423160" cy="18288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Roses Regency Teacup and Saucer</a:t>
            </a:r>
            <a:endParaRPr lang="en-US" sz="1200" dirty="0"/>
          </a:p>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Green Regency Teacup and Saucer</a:t>
            </a:r>
            <a:endParaRPr lang="en-US" sz="1200" dirty="0"/>
          </a:p>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Regency Teapot Roses</a:t>
            </a:r>
            <a:endParaRPr lang="en-US" sz="1200" dirty="0"/>
          </a:p>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Set of 3 Regency Cake Tins</a:t>
            </a:r>
            <a:endParaRPr lang="en-US" sz="1200" dirty="0"/>
          </a:p>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Regency Milk Jug Pink</a:t>
            </a:r>
            <a:endParaRPr lang="en-US" sz="1200" dirty="0"/>
          </a:p>
        </p:txBody>
      </p:sp>
      <p:sp>
        <p:nvSpPr>
          <p:cNvPr id="7" name="Example card 2"/>
          <p:cNvSpPr/>
          <p:nvPr/>
        </p:nvSpPr>
        <p:spPr>
          <a:xfrm>
            <a:off x="3246120" y="1143000"/>
            <a:ext cx="2651760" cy="2880360"/>
          </a:xfrm>
          <a:prstGeom prst="roundRect">
            <a:avLst>
              <a:gd name="adj" fmla="val 2759"/>
            </a:avLst>
          </a:prstGeom>
          <a:solidFill>
            <a:srgbClr val="F6EDF0"/>
          </a:solidFill>
          <a:ln w="12700">
            <a:solidFill>
              <a:srgbClr val="F6EDF0"/>
            </a:solidFill>
            <a:prstDash val="solid"/>
          </a:ln>
        </p:spPr>
        <p:txBody>
          <a:bodyPr/>
          <a:lstStyle/>
          <a:p>
            <a:endParaRPr lang="en-US"/>
          </a:p>
        </p:txBody>
      </p:sp>
      <p:sp>
        <p:nvSpPr>
          <p:cNvPr id="8" name="Example label 2"/>
          <p:cNvSpPr txBox="1"/>
          <p:nvPr/>
        </p:nvSpPr>
        <p:spPr>
          <a:xfrm>
            <a:off x="3383280" y="1234440"/>
            <a:ext cx="2377440" cy="228600"/>
          </a:xfrm>
          <a:prstGeom prst="rect">
            <a:avLst/>
          </a:prstGeom>
          <a:noFill/>
          <a:ln/>
        </p:spPr>
        <p:txBody>
          <a:bodyPr wrap="square" lIns="0" tIns="0" rIns="0" bIns="0" rtlCol="0" anchor="t"/>
          <a:lstStyle/>
          <a:p>
            <a:pPr marL="0" indent="0">
              <a:buNone/>
            </a:pPr>
            <a:r>
              <a:rPr lang="en-US" sz="1100" dirty="0">
                <a:solidFill>
                  <a:srgbClr val="6B6B6B"/>
                </a:solidFill>
                <a:latin typeface="Calibri" pitchFamily="34" charset="0"/>
                <a:ea typeface="Calibri" pitchFamily="34" charset="-122"/>
                <a:cs typeface="Calibri" pitchFamily="34" charset="-120"/>
              </a:rPr>
              <a:t>If you're looking at</a:t>
            </a:r>
            <a:endParaRPr lang="en-US" sz="1100" dirty="0"/>
          </a:p>
        </p:txBody>
      </p:sp>
      <p:sp>
        <p:nvSpPr>
          <p:cNvPr id="9" name="Example product 2"/>
          <p:cNvSpPr txBox="1"/>
          <p:nvPr/>
        </p:nvSpPr>
        <p:spPr>
          <a:xfrm>
            <a:off x="3383280" y="1463040"/>
            <a:ext cx="2377440" cy="594360"/>
          </a:xfrm>
          <a:prstGeom prst="rect">
            <a:avLst/>
          </a:prstGeom>
          <a:noFill/>
          <a:ln/>
        </p:spPr>
        <p:txBody>
          <a:bodyPr wrap="square" lIns="0" tIns="0" rIns="0" bIns="0" rtlCol="0" anchor="t"/>
          <a:lstStyle/>
          <a:p>
            <a:pPr marL="0" indent="0">
              <a:buNone/>
            </a:pPr>
            <a:r>
              <a:rPr lang="en-US" sz="1600" b="1" dirty="0">
                <a:solidFill>
                  <a:srgbClr val="6D2E46"/>
                </a:solidFill>
                <a:latin typeface="Cambria" pitchFamily="34" charset="0"/>
                <a:ea typeface="Cambria" pitchFamily="34" charset="-122"/>
                <a:cs typeface="Cambria" pitchFamily="34" charset="-120"/>
              </a:rPr>
              <a:t>White hanging heart T-light holder</a:t>
            </a:r>
            <a:endParaRPr lang="en-US" sz="1600" dirty="0"/>
          </a:p>
        </p:txBody>
      </p:sp>
      <p:sp>
        <p:nvSpPr>
          <p:cNvPr id="10" name="Example list 2"/>
          <p:cNvSpPr txBox="1"/>
          <p:nvPr/>
        </p:nvSpPr>
        <p:spPr>
          <a:xfrm>
            <a:off x="3383280" y="2103120"/>
            <a:ext cx="2423160" cy="18288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Red Hanging Heart T-Light Holder</a:t>
            </a:r>
            <a:endParaRPr lang="en-US" sz="1200" dirty="0"/>
          </a:p>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Candleholder Pink Hanging Heart</a:t>
            </a:r>
            <a:endParaRPr lang="en-US" sz="1200" dirty="0"/>
          </a:p>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Red Hanging Metal Star T-Light Holder</a:t>
            </a:r>
            <a:endParaRPr lang="en-US" sz="1200" dirty="0"/>
          </a:p>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Colour Glass Star T-Light Holder</a:t>
            </a:r>
            <a:endParaRPr lang="en-US" sz="1200" dirty="0"/>
          </a:p>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Glass Star Frosted T-Light Holder</a:t>
            </a:r>
            <a:endParaRPr lang="en-US" sz="1200" dirty="0"/>
          </a:p>
        </p:txBody>
      </p:sp>
      <p:sp>
        <p:nvSpPr>
          <p:cNvPr id="11" name="Example card 3"/>
          <p:cNvSpPr/>
          <p:nvPr/>
        </p:nvSpPr>
        <p:spPr>
          <a:xfrm>
            <a:off x="6035040" y="1143000"/>
            <a:ext cx="2651760" cy="2880360"/>
          </a:xfrm>
          <a:prstGeom prst="roundRect">
            <a:avLst>
              <a:gd name="adj" fmla="val 2759"/>
            </a:avLst>
          </a:prstGeom>
          <a:solidFill>
            <a:srgbClr val="F6EDF0"/>
          </a:solidFill>
          <a:ln w="12700">
            <a:solidFill>
              <a:srgbClr val="F6EDF0"/>
            </a:solidFill>
            <a:prstDash val="solid"/>
          </a:ln>
        </p:spPr>
        <p:txBody>
          <a:bodyPr/>
          <a:lstStyle/>
          <a:p>
            <a:endParaRPr lang="en-US"/>
          </a:p>
        </p:txBody>
      </p:sp>
      <p:sp>
        <p:nvSpPr>
          <p:cNvPr id="12" name="Example label 3"/>
          <p:cNvSpPr txBox="1"/>
          <p:nvPr/>
        </p:nvSpPr>
        <p:spPr>
          <a:xfrm>
            <a:off x="6172200" y="1234440"/>
            <a:ext cx="2377440" cy="228600"/>
          </a:xfrm>
          <a:prstGeom prst="rect">
            <a:avLst/>
          </a:prstGeom>
          <a:noFill/>
          <a:ln/>
        </p:spPr>
        <p:txBody>
          <a:bodyPr wrap="square" lIns="0" tIns="0" rIns="0" bIns="0" rtlCol="0" anchor="t"/>
          <a:lstStyle/>
          <a:p>
            <a:pPr marL="0" indent="0">
              <a:buNone/>
            </a:pPr>
            <a:r>
              <a:rPr lang="en-US" sz="1100" dirty="0">
                <a:solidFill>
                  <a:srgbClr val="6B6B6B"/>
                </a:solidFill>
                <a:latin typeface="Calibri" pitchFamily="34" charset="0"/>
                <a:ea typeface="Calibri" pitchFamily="34" charset="-122"/>
                <a:cs typeface="Calibri" pitchFamily="34" charset="-120"/>
              </a:rPr>
              <a:t>If you're looking at</a:t>
            </a:r>
            <a:endParaRPr lang="en-US" sz="1100" dirty="0"/>
          </a:p>
        </p:txBody>
      </p:sp>
      <p:sp>
        <p:nvSpPr>
          <p:cNvPr id="13" name="Example product 3"/>
          <p:cNvSpPr txBox="1"/>
          <p:nvPr/>
        </p:nvSpPr>
        <p:spPr>
          <a:xfrm>
            <a:off x="6172200" y="1463040"/>
            <a:ext cx="2377440" cy="594360"/>
          </a:xfrm>
          <a:prstGeom prst="rect">
            <a:avLst/>
          </a:prstGeom>
          <a:noFill/>
          <a:ln/>
        </p:spPr>
        <p:txBody>
          <a:bodyPr wrap="square" lIns="0" tIns="0" rIns="0" bIns="0" rtlCol="0" anchor="t"/>
          <a:lstStyle/>
          <a:p>
            <a:pPr marL="0" indent="0">
              <a:buNone/>
            </a:pPr>
            <a:r>
              <a:rPr lang="en-US" sz="1600" b="1" dirty="0">
                <a:solidFill>
                  <a:srgbClr val="6D2E46"/>
                </a:solidFill>
                <a:latin typeface="Cambria" pitchFamily="34" charset="0"/>
                <a:ea typeface="Cambria" pitchFamily="34" charset="-122"/>
                <a:cs typeface="Cambria" pitchFamily="34" charset="-120"/>
              </a:rPr>
              <a:t>Pack of 72 retro spot cake cases</a:t>
            </a:r>
            <a:endParaRPr lang="en-US" sz="1600" dirty="0"/>
          </a:p>
        </p:txBody>
      </p:sp>
      <p:sp>
        <p:nvSpPr>
          <p:cNvPr id="14" name="Example list 3"/>
          <p:cNvSpPr txBox="1"/>
          <p:nvPr/>
        </p:nvSpPr>
        <p:spPr>
          <a:xfrm>
            <a:off x="6172200" y="2103120"/>
            <a:ext cx="2423160" cy="18288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Set of 72 Retro Spot Paper Doilies</a:t>
            </a:r>
            <a:endParaRPr lang="en-US" sz="1200" dirty="0"/>
          </a:p>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Pack of 72 Skull Cake Cases</a:t>
            </a:r>
            <a:endParaRPr lang="en-US" sz="1200" dirty="0"/>
          </a:p>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Pack of 60 Pink Paisley Cake Cases</a:t>
            </a:r>
            <a:endParaRPr lang="en-US" sz="1200" dirty="0"/>
          </a:p>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60 Teatime Fairy Cake Cases</a:t>
            </a:r>
            <a:endParaRPr lang="en-US" sz="1200" dirty="0"/>
          </a:p>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Pack of 60 Dinosaur Cake Cases</a:t>
            </a:r>
            <a:endParaRPr lang="en-US" sz="1200" dirty="0"/>
          </a:p>
        </p:txBody>
      </p:sp>
      <p:sp>
        <p:nvSpPr>
          <p:cNvPr id="15" name="Caveat"/>
          <p:cNvSpPr txBox="1"/>
          <p:nvPr/>
        </p:nvSpPr>
        <p:spPr>
          <a:xfrm>
            <a:off x="457200" y="4160520"/>
            <a:ext cx="8229600" cy="594360"/>
          </a:xfrm>
          <a:prstGeom prst="rect">
            <a:avLst/>
          </a:prstGeom>
          <a:noFill/>
          <a:ln/>
        </p:spPr>
        <p:txBody>
          <a:bodyPr wrap="square" lIns="0" tIns="0" rIns="0" bIns="0" rtlCol="0" anchor="t"/>
          <a:lstStyle/>
          <a:p>
            <a:pPr marL="0" indent="0">
              <a:buNone/>
            </a:pPr>
            <a:r>
              <a:rPr lang="en-US" sz="1500" dirty="0">
                <a:solidFill>
                  <a:srgbClr val="2B2B2B"/>
                </a:solidFill>
                <a:latin typeface="Calibri" pitchFamily="34" charset="0"/>
                <a:ea typeface="Calibri" pitchFamily="34" charset="-122"/>
                <a:cs typeface="Calibri" pitchFamily="34" charset="-120"/>
              </a:rPr>
              <a:t>Further down the lists the matches get weaker (a wall cabinet turned up next to a T-light holder), so we'd test the box live before rolling it out.</a:t>
            </a:r>
            <a:endParaRPr lang="en-US" sz="1500" dirty="0"/>
          </a:p>
        </p:txBody>
      </p:sp>
      <p:sp>
        <p:nvSpPr>
          <p:cNvPr id="16" name="Presenter"/>
          <p:cNvSpPr txBox="1"/>
          <p:nvPr/>
        </p:nvSpPr>
        <p:spPr>
          <a:xfrm>
            <a:off x="457200" y="4828032"/>
            <a:ext cx="4572000" cy="228600"/>
          </a:xfrm>
          <a:prstGeom prst="rect">
            <a:avLst/>
          </a:prstGeom>
          <a:noFill/>
          <a:ln/>
        </p:spPr>
        <p:txBody>
          <a:bodyPr wrap="square" lIns="0" tIns="0" rIns="0" bIns="0" rtlCol="0" anchor="t"/>
          <a:lstStyle/>
          <a:p>
            <a:pPr marL="0" indent="0">
              <a:buNone/>
            </a:pPr>
            <a:r>
              <a:rPr lang="en-US" sz="1100" dirty="0">
                <a:solidFill>
                  <a:srgbClr val="6B6B6B"/>
                </a:solidFill>
                <a:latin typeface="Calibri" pitchFamily="34" charset="0"/>
                <a:ea typeface="Calibri" pitchFamily="34" charset="-122"/>
                <a:cs typeface="Calibri" pitchFamily="34" charset="-120"/>
              </a:rPr>
              <a:t>Presenter: Jeevan Mandala</a:t>
            </a:r>
            <a:endParaRPr lang="en-US" sz="11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B6B"/>
                </a:solidFill>
                <a:latin typeface="Calibri"/>
                <a:ea typeface="Calibri"/>
                <a:cs typeface="Calibri"/>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31520"/>
          </a:xfrm>
          <a:prstGeom prst="rect">
            <a:avLst/>
          </a:prstGeom>
          <a:noFill/>
          <a:ln/>
        </p:spPr>
        <p:txBody>
          <a:bodyPr wrap="square" rtlCol="0" anchor="ctr"/>
          <a:lstStyle/>
          <a:p>
            <a:pPr marL="0" indent="0" algn="l">
              <a:buNone/>
            </a:pPr>
            <a:r>
              <a:rPr lang="en-US" sz="3400" b="1" dirty="0">
                <a:solidFill>
                  <a:srgbClr val="6D2E46"/>
                </a:solidFill>
                <a:latin typeface="Cambria" pitchFamily="34" charset="0"/>
                <a:ea typeface="Cambria" pitchFamily="34" charset="-122"/>
                <a:cs typeface="Cambria" pitchFamily="34" charset="-120"/>
              </a:rPr>
              <a:t>Our customer groups</a:t>
            </a:r>
            <a:endParaRPr lang="en-US" sz="3400" dirty="0"/>
          </a:p>
        </p:txBody>
      </p:sp>
      <p:pic>
        <p:nvPicPr>
          <p:cNvPr id="3" name="Customer map" descr="Customer map with three named groups"/>
          <p:cNvPicPr>
            <a:picLocks noChangeAspect="1"/>
          </p:cNvPicPr>
          <p:nvPr/>
        </p:nvPicPr>
        <p:blipFill>
          <a:blip r:embed="rId3"/>
          <a:stretch>
            <a:fillRect/>
          </a:stretch>
        </p:blipFill>
        <p:spPr>
          <a:xfrm>
            <a:off x="365760" y="1097280"/>
            <a:ext cx="4535424" cy="3383280"/>
          </a:xfrm>
          <a:prstGeom prst="rect">
            <a:avLst/>
          </a:prstGeom>
        </p:spPr>
      </p:pic>
      <p:sp>
        <p:nvSpPr>
          <p:cNvPr id="4" name="Group dot 1"/>
          <p:cNvSpPr/>
          <p:nvPr/>
        </p:nvSpPr>
        <p:spPr>
          <a:xfrm>
            <a:off x="5349240" y="1188720"/>
            <a:ext cx="237744" cy="237744"/>
          </a:xfrm>
          <a:prstGeom prst="ellipse">
            <a:avLst/>
          </a:prstGeom>
          <a:solidFill>
            <a:srgbClr val="1F77B4"/>
          </a:solidFill>
          <a:ln w="12700">
            <a:solidFill>
              <a:srgbClr val="1F77B4"/>
            </a:solidFill>
            <a:prstDash val="solid"/>
          </a:ln>
        </p:spPr>
        <p:txBody>
          <a:bodyPr/>
          <a:lstStyle/>
          <a:p>
            <a:endParaRPr lang="en-US"/>
          </a:p>
        </p:txBody>
      </p:sp>
      <p:sp>
        <p:nvSpPr>
          <p:cNvPr id="5" name="Group name 1"/>
          <p:cNvSpPr txBox="1"/>
          <p:nvPr/>
        </p:nvSpPr>
        <p:spPr>
          <a:xfrm>
            <a:off x="5715000" y="1143000"/>
            <a:ext cx="3017520" cy="320040"/>
          </a:xfrm>
          <a:prstGeom prst="rect">
            <a:avLst/>
          </a:prstGeom>
          <a:noFill/>
          <a:ln/>
        </p:spPr>
        <p:txBody>
          <a:bodyPr wrap="square" lIns="0" tIns="0" rIns="0" bIns="0" rtlCol="0" anchor="t"/>
          <a:lstStyle/>
          <a:p>
            <a:pPr marL="0" indent="0">
              <a:buNone/>
            </a:pPr>
            <a:r>
              <a:rPr lang="en-US" sz="1600" b="1" dirty="0">
                <a:solidFill>
                  <a:srgbClr val="2B2B2B"/>
                </a:solidFill>
                <a:latin typeface="Calibri" pitchFamily="34" charset="0"/>
                <a:ea typeface="Calibri" pitchFamily="34" charset="-122"/>
                <a:cs typeface="Calibri" pitchFamily="34" charset="-120"/>
              </a:rPr>
              <a:t>Everyday small shops</a:t>
            </a:r>
            <a:endParaRPr lang="en-US" sz="1600" dirty="0"/>
          </a:p>
        </p:txBody>
      </p:sp>
      <p:sp>
        <p:nvSpPr>
          <p:cNvPr id="6" name="Group detail 1"/>
          <p:cNvSpPr txBox="1"/>
          <p:nvPr/>
        </p:nvSpPr>
        <p:spPr>
          <a:xfrm>
            <a:off x="5715000" y="1490472"/>
            <a:ext cx="3017520" cy="777240"/>
          </a:xfrm>
          <a:prstGeom prst="rect">
            <a:avLst/>
          </a:prstGeom>
          <a:noFill/>
          <a:ln/>
        </p:spPr>
        <p:txBody>
          <a:bodyPr wrap="square" lIns="0" tIns="0" rIns="0" bIns="0" rtlCol="0" anchor="t"/>
          <a:lstStyle/>
          <a:p>
            <a:pPr marL="0" indent="0">
              <a:buNone/>
            </a:pPr>
            <a:r>
              <a:rPr lang="en-US" sz="1300" dirty="0">
                <a:solidFill>
                  <a:srgbClr val="2B2B2B"/>
                </a:solidFill>
                <a:latin typeface="Calibri" pitchFamily="34" charset="0"/>
                <a:ea typeface="Calibri" pitchFamily="34" charset="-122"/>
                <a:cs typeface="Calibri" pitchFamily="34" charset="-120"/>
              </a:rPr>
              <a:t>83% of customers (4,543). About 47 different products each, 92% in the UK.</a:t>
            </a:r>
            <a:endParaRPr lang="en-US" sz="1300" dirty="0"/>
          </a:p>
        </p:txBody>
      </p:sp>
      <p:sp>
        <p:nvSpPr>
          <p:cNvPr id="7" name="Group dot 2"/>
          <p:cNvSpPr/>
          <p:nvPr/>
        </p:nvSpPr>
        <p:spPr>
          <a:xfrm>
            <a:off x="5349240" y="2377440"/>
            <a:ext cx="237744" cy="237744"/>
          </a:xfrm>
          <a:prstGeom prst="ellipse">
            <a:avLst/>
          </a:prstGeom>
          <a:solidFill>
            <a:srgbClr val="FF7F0E"/>
          </a:solidFill>
          <a:ln w="12700">
            <a:solidFill>
              <a:srgbClr val="FF7F0E"/>
            </a:solidFill>
            <a:prstDash val="solid"/>
          </a:ln>
        </p:spPr>
        <p:txBody>
          <a:bodyPr/>
          <a:lstStyle/>
          <a:p>
            <a:endParaRPr lang="en-US"/>
          </a:p>
        </p:txBody>
      </p:sp>
      <p:sp>
        <p:nvSpPr>
          <p:cNvPr id="8" name="Group name 2"/>
          <p:cNvSpPr txBox="1"/>
          <p:nvPr/>
        </p:nvSpPr>
        <p:spPr>
          <a:xfrm>
            <a:off x="5715000" y="2331720"/>
            <a:ext cx="3017520" cy="320040"/>
          </a:xfrm>
          <a:prstGeom prst="rect">
            <a:avLst/>
          </a:prstGeom>
          <a:noFill/>
          <a:ln/>
        </p:spPr>
        <p:txBody>
          <a:bodyPr wrap="square" lIns="0" tIns="0" rIns="0" bIns="0" rtlCol="0" anchor="t"/>
          <a:lstStyle/>
          <a:p>
            <a:pPr marL="0" indent="0">
              <a:buNone/>
            </a:pPr>
            <a:r>
              <a:rPr lang="en-US" sz="1600" b="1" dirty="0">
                <a:solidFill>
                  <a:srgbClr val="2B2B2B"/>
                </a:solidFill>
                <a:latin typeface="Calibri" pitchFamily="34" charset="0"/>
                <a:ea typeface="Calibri" pitchFamily="34" charset="-122"/>
                <a:cs typeface="Calibri" pitchFamily="34" charset="-120"/>
              </a:rPr>
              <a:t>Big buyers: home decor and gifts</a:t>
            </a:r>
            <a:endParaRPr lang="en-US" sz="1600" dirty="0"/>
          </a:p>
        </p:txBody>
      </p:sp>
      <p:sp>
        <p:nvSpPr>
          <p:cNvPr id="9" name="Group detail 2"/>
          <p:cNvSpPr txBox="1"/>
          <p:nvPr/>
        </p:nvSpPr>
        <p:spPr>
          <a:xfrm>
            <a:off x="5715000" y="2679192"/>
            <a:ext cx="3017520" cy="777240"/>
          </a:xfrm>
          <a:prstGeom prst="rect">
            <a:avLst/>
          </a:prstGeom>
          <a:noFill/>
          <a:ln/>
        </p:spPr>
        <p:txBody>
          <a:bodyPr wrap="square" lIns="0" tIns="0" rIns="0" bIns="0" rtlCol="0" anchor="t"/>
          <a:lstStyle/>
          <a:p>
            <a:pPr marL="0" indent="0">
              <a:buNone/>
            </a:pPr>
            <a:r>
              <a:rPr lang="en-US" sz="1300" dirty="0">
                <a:solidFill>
                  <a:srgbClr val="2B2B2B"/>
                </a:solidFill>
                <a:latin typeface="Calibri" pitchFamily="34" charset="0"/>
                <a:ea typeface="Calibri" pitchFamily="34" charset="-122"/>
                <a:cs typeface="Calibri" pitchFamily="34" charset="-120"/>
              </a:rPr>
              <a:t>10% (538). About 230 products each: hearts, T-light holders, wicker, French signs. 98% UK.</a:t>
            </a:r>
            <a:endParaRPr lang="en-US" sz="1300" dirty="0"/>
          </a:p>
        </p:txBody>
      </p:sp>
      <p:sp>
        <p:nvSpPr>
          <p:cNvPr id="10" name="Group dot 3"/>
          <p:cNvSpPr/>
          <p:nvPr/>
        </p:nvSpPr>
        <p:spPr>
          <a:xfrm>
            <a:off x="5349240" y="3566160"/>
            <a:ext cx="237744" cy="237744"/>
          </a:xfrm>
          <a:prstGeom prst="ellipse">
            <a:avLst/>
          </a:prstGeom>
          <a:solidFill>
            <a:srgbClr val="2CA02C"/>
          </a:solidFill>
          <a:ln w="12700">
            <a:solidFill>
              <a:srgbClr val="2CA02C"/>
            </a:solidFill>
            <a:prstDash val="solid"/>
          </a:ln>
        </p:spPr>
        <p:txBody>
          <a:bodyPr/>
          <a:lstStyle/>
          <a:p>
            <a:endParaRPr lang="en-US"/>
          </a:p>
        </p:txBody>
      </p:sp>
      <p:sp>
        <p:nvSpPr>
          <p:cNvPr id="11" name="Group name 3"/>
          <p:cNvSpPr txBox="1"/>
          <p:nvPr/>
        </p:nvSpPr>
        <p:spPr>
          <a:xfrm>
            <a:off x="5715000" y="3520440"/>
            <a:ext cx="3017520" cy="320040"/>
          </a:xfrm>
          <a:prstGeom prst="rect">
            <a:avLst/>
          </a:prstGeom>
          <a:noFill/>
          <a:ln/>
        </p:spPr>
        <p:txBody>
          <a:bodyPr wrap="square" lIns="0" tIns="0" rIns="0" bIns="0" rtlCol="0" anchor="t"/>
          <a:lstStyle/>
          <a:p>
            <a:pPr marL="0" indent="0">
              <a:buNone/>
            </a:pPr>
            <a:r>
              <a:rPr lang="en-US" sz="1600" b="1" dirty="0">
                <a:solidFill>
                  <a:srgbClr val="2B2B2B"/>
                </a:solidFill>
                <a:latin typeface="Calibri" pitchFamily="34" charset="0"/>
                <a:ea typeface="Calibri" pitchFamily="34" charset="-122"/>
                <a:cs typeface="Calibri" pitchFamily="34" charset="-120"/>
              </a:rPr>
              <a:t>Big buyers: party, baking and kids</a:t>
            </a:r>
            <a:endParaRPr lang="en-US" sz="1600" dirty="0"/>
          </a:p>
        </p:txBody>
      </p:sp>
      <p:sp>
        <p:nvSpPr>
          <p:cNvPr id="12" name="Group detail 3"/>
          <p:cNvSpPr txBox="1"/>
          <p:nvPr/>
        </p:nvSpPr>
        <p:spPr>
          <a:xfrm>
            <a:off x="5715000" y="3867912"/>
            <a:ext cx="3017520" cy="777240"/>
          </a:xfrm>
          <a:prstGeom prst="rect">
            <a:avLst/>
          </a:prstGeom>
          <a:noFill/>
          <a:ln/>
        </p:spPr>
        <p:txBody>
          <a:bodyPr wrap="square" lIns="0" tIns="0" rIns="0" bIns="0" rtlCol="0" anchor="t"/>
          <a:lstStyle/>
          <a:p>
            <a:pPr marL="0" indent="0">
              <a:buNone/>
            </a:pPr>
            <a:r>
              <a:rPr lang="en-US" sz="1300" dirty="0">
                <a:solidFill>
                  <a:srgbClr val="2B2B2B"/>
                </a:solidFill>
                <a:latin typeface="Calibri" pitchFamily="34" charset="0"/>
                <a:ea typeface="Calibri" pitchFamily="34" charset="-122"/>
                <a:cs typeface="Calibri" pitchFamily="34" charset="-120"/>
              </a:rPr>
              <a:t>7% (390). About 200 products each: lunch bags, cake cases, backpacks. 29% outside the UK.</a:t>
            </a:r>
            <a:endParaRPr lang="en-US" sz="1300" dirty="0"/>
          </a:p>
        </p:txBody>
      </p:sp>
      <p:sp>
        <p:nvSpPr>
          <p:cNvPr id="13" name="Map note"/>
          <p:cNvSpPr txBox="1"/>
          <p:nvPr/>
        </p:nvSpPr>
        <p:spPr>
          <a:xfrm>
            <a:off x="457200" y="4553712"/>
            <a:ext cx="7772400" cy="228600"/>
          </a:xfrm>
          <a:prstGeom prst="rect">
            <a:avLst/>
          </a:prstGeom>
          <a:noFill/>
          <a:ln/>
        </p:spPr>
        <p:txBody>
          <a:bodyPr wrap="square" lIns="0" tIns="0" rIns="0" bIns="0" rtlCol="0" anchor="t"/>
          <a:lstStyle/>
          <a:p>
            <a:pPr marL="0" indent="0">
              <a:buNone/>
            </a:pPr>
            <a:r>
              <a:rPr lang="en-US" sz="1100" dirty="0">
                <a:solidFill>
                  <a:srgbClr val="6B6B6B"/>
                </a:solidFill>
                <a:latin typeface="Calibri" pitchFamily="34" charset="0"/>
                <a:ea typeface="Calibri" pitchFamily="34" charset="-122"/>
                <a:cs typeface="Calibri" pitchFamily="34" charset="-120"/>
              </a:rPr>
              <a:t>The first axis is basically how much customers buy, so the picture mostly separates small from big buyers. The edges are soft.</a:t>
            </a:r>
            <a:endParaRPr lang="en-US" sz="1100" dirty="0"/>
          </a:p>
        </p:txBody>
      </p:sp>
      <p:sp>
        <p:nvSpPr>
          <p:cNvPr id="14" name="Presenter"/>
          <p:cNvSpPr txBox="1"/>
          <p:nvPr/>
        </p:nvSpPr>
        <p:spPr>
          <a:xfrm>
            <a:off x="457200" y="4828032"/>
            <a:ext cx="4572000" cy="228600"/>
          </a:xfrm>
          <a:prstGeom prst="rect">
            <a:avLst/>
          </a:prstGeom>
          <a:noFill/>
          <a:ln/>
        </p:spPr>
        <p:txBody>
          <a:bodyPr wrap="square" lIns="0" tIns="0" rIns="0" bIns="0" rtlCol="0" anchor="t"/>
          <a:lstStyle/>
          <a:p>
            <a:pPr marL="0" indent="0">
              <a:buNone/>
            </a:pPr>
            <a:r>
              <a:rPr lang="en-US" sz="1100" dirty="0">
                <a:solidFill>
                  <a:srgbClr val="6B6B6B"/>
                </a:solidFill>
                <a:latin typeface="Calibri" pitchFamily="34" charset="0"/>
                <a:ea typeface="Calibri" pitchFamily="34" charset="-122"/>
                <a:cs typeface="Calibri" pitchFamily="34" charset="-120"/>
              </a:rPr>
              <a:t>Presenter: Jeevan Mandala</a:t>
            </a:r>
            <a:endParaRPr lang="en-US" sz="11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B6B"/>
                </a:solidFill>
                <a:latin typeface="Calibri"/>
                <a:ea typeface="Calibri"/>
                <a:cs typeface="Calibri"/>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31520"/>
          </a:xfrm>
          <a:prstGeom prst="rect">
            <a:avLst/>
          </a:prstGeom>
          <a:noFill/>
          <a:ln/>
        </p:spPr>
        <p:txBody>
          <a:bodyPr wrap="square" rtlCol="0" anchor="ctr"/>
          <a:lstStyle/>
          <a:p>
            <a:pPr marL="0" indent="0" algn="l">
              <a:buNone/>
            </a:pPr>
            <a:r>
              <a:rPr lang="en-US" sz="3400" b="1" dirty="0">
                <a:solidFill>
                  <a:srgbClr val="6D2E46"/>
                </a:solidFill>
                <a:latin typeface="Cambria" pitchFamily="34" charset="0"/>
                <a:ea typeface="Cambria" pitchFamily="34" charset="-122"/>
                <a:cs typeface="Cambria" pitchFamily="34" charset="-120"/>
              </a:rPr>
              <a:t>What could go wrong, and what next</a:t>
            </a:r>
            <a:endParaRPr lang="en-US" sz="3400" dirty="0"/>
          </a:p>
        </p:txBody>
      </p:sp>
      <p:sp>
        <p:nvSpPr>
          <p:cNvPr id="3" name="Column card 1"/>
          <p:cNvSpPr/>
          <p:nvPr/>
        </p:nvSpPr>
        <p:spPr>
          <a:xfrm>
            <a:off x="457200" y="1143000"/>
            <a:ext cx="4023360" cy="3520440"/>
          </a:xfrm>
          <a:prstGeom prst="roundRect">
            <a:avLst>
              <a:gd name="adj" fmla="val 2078"/>
            </a:avLst>
          </a:prstGeom>
          <a:solidFill>
            <a:srgbClr val="F6EDF0"/>
          </a:solidFill>
          <a:ln w="12700">
            <a:solidFill>
              <a:srgbClr val="F6EDF0"/>
            </a:solidFill>
            <a:prstDash val="solid"/>
          </a:ln>
        </p:spPr>
        <p:txBody>
          <a:bodyPr/>
          <a:lstStyle/>
          <a:p>
            <a:endParaRPr lang="en-US"/>
          </a:p>
        </p:txBody>
      </p:sp>
      <p:sp>
        <p:nvSpPr>
          <p:cNvPr id="4" name="Column head 1"/>
          <p:cNvSpPr txBox="1"/>
          <p:nvPr/>
        </p:nvSpPr>
        <p:spPr>
          <a:xfrm>
            <a:off x="685800" y="1280160"/>
            <a:ext cx="3566160" cy="411480"/>
          </a:xfrm>
          <a:prstGeom prst="rect">
            <a:avLst/>
          </a:prstGeom>
          <a:noFill/>
          <a:ln/>
        </p:spPr>
        <p:txBody>
          <a:bodyPr wrap="square" lIns="0" tIns="0" rIns="0" bIns="0" rtlCol="0" anchor="t"/>
          <a:lstStyle/>
          <a:p>
            <a:pPr marL="0" indent="0">
              <a:buNone/>
            </a:pPr>
            <a:r>
              <a:rPr lang="en-US" sz="2100" b="1" dirty="0">
                <a:solidFill>
                  <a:srgbClr val="6D2E46"/>
                </a:solidFill>
                <a:latin typeface="Cambria" pitchFamily="34" charset="0"/>
                <a:ea typeface="Cambria" pitchFamily="34" charset="-122"/>
                <a:cs typeface="Cambria" pitchFamily="34" charset="-120"/>
              </a:rPr>
              <a:t>What could go wrong</a:t>
            </a:r>
            <a:endParaRPr lang="en-US" sz="2100" dirty="0"/>
          </a:p>
        </p:txBody>
      </p:sp>
      <p:sp>
        <p:nvSpPr>
          <p:cNvPr id="5" name="Column list 1"/>
          <p:cNvSpPr txBox="1"/>
          <p:nvPr/>
        </p:nvSpPr>
        <p:spPr>
          <a:xfrm>
            <a:off x="685800" y="1828800"/>
            <a:ext cx="361188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One test period, and it was the run up to Christmas</a:t>
            </a:r>
            <a:endParaRPr lang="en-US" sz="1600" dirty="0"/>
          </a:p>
          <a:p>
            <a:pPr marL="342900" indent="-342900">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23% of order lines have no customer ID, so guest buyers are invisible</a:t>
            </a:r>
            <a:endParaRPr lang="en-US" sz="1600" dirty="0"/>
          </a:p>
          <a:p>
            <a:pPr marL="342900" indent="-342900">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New customers and products with fewer than 10 buyers get no suggestions (about 3 in 10 of the new purchases we tested)</a:t>
            </a:r>
            <a:endParaRPr lang="en-US" sz="1600" dirty="0"/>
          </a:p>
          <a:p>
            <a:pPr marL="342900" indent="-342900">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We measured personal top-10 lists, not the product page box itself</a:t>
            </a:r>
            <a:endParaRPr lang="en-US" sz="1600" dirty="0"/>
          </a:p>
        </p:txBody>
      </p:sp>
      <p:sp>
        <p:nvSpPr>
          <p:cNvPr id="6" name="Column card 2"/>
          <p:cNvSpPr/>
          <p:nvPr/>
        </p:nvSpPr>
        <p:spPr>
          <a:xfrm>
            <a:off x="4663440" y="1143000"/>
            <a:ext cx="4023360" cy="3520440"/>
          </a:xfrm>
          <a:prstGeom prst="roundRect">
            <a:avLst>
              <a:gd name="adj" fmla="val 2078"/>
            </a:avLst>
          </a:prstGeom>
          <a:solidFill>
            <a:srgbClr val="F6EDF0"/>
          </a:solidFill>
          <a:ln w="12700">
            <a:solidFill>
              <a:srgbClr val="F6EDF0"/>
            </a:solidFill>
            <a:prstDash val="solid"/>
          </a:ln>
        </p:spPr>
        <p:txBody>
          <a:bodyPr/>
          <a:lstStyle/>
          <a:p>
            <a:endParaRPr lang="en-US"/>
          </a:p>
        </p:txBody>
      </p:sp>
      <p:sp>
        <p:nvSpPr>
          <p:cNvPr id="7" name="Column head 2"/>
          <p:cNvSpPr txBox="1"/>
          <p:nvPr/>
        </p:nvSpPr>
        <p:spPr>
          <a:xfrm>
            <a:off x="4892040" y="1280160"/>
            <a:ext cx="3566160" cy="411480"/>
          </a:xfrm>
          <a:prstGeom prst="rect">
            <a:avLst/>
          </a:prstGeom>
          <a:noFill/>
          <a:ln/>
        </p:spPr>
        <p:txBody>
          <a:bodyPr wrap="square" lIns="0" tIns="0" rIns="0" bIns="0" rtlCol="0" anchor="t"/>
          <a:lstStyle/>
          <a:p>
            <a:pPr marL="0" indent="0">
              <a:buNone/>
            </a:pPr>
            <a:r>
              <a:rPr lang="en-US" sz="2100" b="1" dirty="0">
                <a:solidFill>
                  <a:srgbClr val="6D2E46"/>
                </a:solidFill>
                <a:latin typeface="Cambria" pitchFamily="34" charset="0"/>
                <a:ea typeface="Cambria" pitchFamily="34" charset="-122"/>
                <a:cs typeface="Cambria" pitchFamily="34" charset="-120"/>
              </a:rPr>
              <a:t>What we'd do next</a:t>
            </a:r>
            <a:endParaRPr lang="en-US" sz="2100" dirty="0"/>
          </a:p>
        </p:txBody>
      </p:sp>
      <p:sp>
        <p:nvSpPr>
          <p:cNvPr id="8" name="Column list 2"/>
          <p:cNvSpPr txBox="1"/>
          <p:nvPr/>
        </p:nvSpPr>
        <p:spPr>
          <a:xfrm>
            <a:off x="4892040" y="1828800"/>
            <a:ext cx="361188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A/B test the box against best sellers for 2 to 4 weeks</a:t>
            </a:r>
            <a:endParaRPr lang="en-US" sz="1600" dirty="0"/>
          </a:p>
          <a:p>
            <a:pPr marL="342900" indent="-342900">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Try a bought or not bought input: it was 2.8 points better on validation (interval 0.5 to 5.1)</a:t>
            </a:r>
            <a:endParaRPr lang="en-US" sz="1600" dirty="0"/>
          </a:p>
          <a:p>
            <a:pPr marL="342900" indent="-342900">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Refresh the model every night and check the hit rate monthly</a:t>
            </a:r>
            <a:endParaRPr lang="en-US" sz="1600" dirty="0"/>
          </a:p>
          <a:p>
            <a:pPr marL="342900" indent="-342900">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Split the small shops group by theme</a:t>
            </a:r>
            <a:endParaRPr lang="en-US" sz="1600" dirty="0"/>
          </a:p>
        </p:txBody>
      </p:sp>
      <p:sp>
        <p:nvSpPr>
          <p:cNvPr id="9" name="Presenter"/>
          <p:cNvSpPr txBox="1"/>
          <p:nvPr/>
        </p:nvSpPr>
        <p:spPr>
          <a:xfrm>
            <a:off x="457200" y="4828032"/>
            <a:ext cx="4572000" cy="228600"/>
          </a:xfrm>
          <a:prstGeom prst="rect">
            <a:avLst/>
          </a:prstGeom>
          <a:noFill/>
          <a:ln/>
        </p:spPr>
        <p:txBody>
          <a:bodyPr wrap="square" lIns="0" tIns="0" rIns="0" bIns="0" rtlCol="0" anchor="t"/>
          <a:lstStyle/>
          <a:p>
            <a:pPr marL="0" indent="0">
              <a:buNone/>
            </a:pPr>
            <a:r>
              <a:rPr lang="en-US" sz="1100" dirty="0">
                <a:solidFill>
                  <a:srgbClr val="6B6B6B"/>
                </a:solidFill>
                <a:latin typeface="Calibri" pitchFamily="34" charset="0"/>
                <a:ea typeface="Calibri" pitchFamily="34" charset="-122"/>
                <a:cs typeface="Calibri" pitchFamily="34" charset="-120"/>
              </a:rPr>
              <a:t>Presenter: Manavkrishna Manoj (risks) and Jeevan Mandala (next steps)</a:t>
            </a:r>
            <a:endParaRPr lang="en-US" sz="11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B6B"/>
                </a:solidFill>
                <a:latin typeface="Calibri"/>
                <a:ea typeface="Calibri"/>
                <a:cs typeface="Calibri"/>
              </a:defRPr>
            </a:lvl1pPr>
          </a:lstStyle>
          <a:p>
            <a:pPr algn="l"/>
            <a:fld id="{F7021451-1387-4CA6-816F-3879F97B5CBC}" type="slidenum">
              <a:rPr lang="en-US" b="0"/>
              <a:t>9</a:t>
            </a:fld>
            <a:endParaRPr lang="en-US"/>
          </a:p>
        </p:txBody>
      </p:sp>
    </p:spTree>
  </p:cSld>
  <p:clrMapOvr>
    <a:masterClrMapping/>
  </p:clrMapOvr>
</p:sld>
</file>

<file path=ppt/theme/theme1.xml><?xml version="1.0" encoding="utf-8"?>
<a:theme xmlns:a="http://schemas.openxmlformats.org/drawingml/2006/main" name="GiftLane">
  <a:themeElements>
    <a:clrScheme name="GiftLane">
      <a:dk1>
        <a:srgbClr val="2B2B2B"/>
      </a:dk1>
      <a:lt1>
        <a:srgbClr val="FFFFFF"/>
      </a:lt1>
      <a:dk2>
        <a:srgbClr val="6D2E46"/>
      </a:dk2>
      <a:lt2>
        <a:srgbClr val="F6EDF0"/>
      </a:lt2>
      <a:accent1>
        <a:srgbClr val="6D2E46"/>
      </a:accent1>
      <a:accent2>
        <a:srgbClr val="A26769"/>
      </a:accent2>
      <a:accent3>
        <a:srgbClr val="D9A441"/>
      </a:accent3>
      <a:accent4>
        <a:srgbClr val="2A7F7F"/>
      </a:accent4>
      <a:accent5>
        <a:srgbClr val="1F77B4"/>
      </a:accent5>
      <a:accent6>
        <a:srgbClr val="2CA02C"/>
      </a:accent6>
      <a:hlink>
        <a:srgbClr val="6D2E46"/>
      </a:hlink>
      <a:folHlink>
        <a:srgbClr val="A26769"/>
      </a:folHlink>
    </a:clrScheme>
    <a:fontScheme name="GiftLa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2039</Words>
  <Application>Microsoft Macintosh PowerPoint</Application>
  <PresentationFormat>On-screen Show (16:9)</PresentationFormat>
  <Paragraphs>162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GiftLane</vt:lpstr>
      <vt:lpstr>Customers like you</vt:lpstr>
      <vt:lpstr>What Sarah asked for</vt:lpstr>
      <vt:lpstr>From raw lines to a matrix</vt:lpstr>
      <vt:lpstr>SVD or PCA?</vt:lpstr>
      <vt:lpstr>Picking the number of dimensions</vt:lpstr>
      <vt:lpstr>Do we beat the best sellers?</vt:lpstr>
      <vt:lpstr>What the suggestions look like</vt:lpstr>
      <vt:lpstr>Our customer groups</vt:lpstr>
      <vt:lpstr>What could go wrong, and what next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Customers like you</dc:title>
  <dc:subject>PptxGenJS Presentation</dc:subject>
  <dc:creator>Jeevan Mandala and Manavkrishna Manoj</dc:creator>
  <cp:lastModifiedBy>Jeevan Mandala</cp:lastModifiedBy>
  <cp:revision>2</cp:revision>
  <dcterms:created xsi:type="dcterms:W3CDTF">2026-10-14T01:04:36Z</dcterms:created>
  <dcterms:modified xsi:type="dcterms:W3CDTF">2026-10-14T01:10:20Z</dcterms:modified>
</cp:coreProperties>
</file>